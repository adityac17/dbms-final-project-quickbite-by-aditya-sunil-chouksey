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Good morning everyone. I'm Aditya Sunil Chouksey, and my case study is number 83: QuickBite, a food delivery order and restaurant management system. QuickBite is an aggregator, like Swiggy or Zomato. It lists restaurant menus and processes customer orders. In the next few minutes I'll cover the problem, the ER diagram, how I normalized the schema, the key queries, the index I built, and how the database protects its own data. Everything I show was run on a real PostgreSQL 18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problem. QuickBite lists restaurant menus and takes customer orders, and the business needs two answers from its data: how much revenue each restaurant earns, and which dish is each restaurant's most popular, so it can be promoted. From the brief I took four goals. One: revenue per restaurant, which is a GROUP BY with SUM. Two: the most popular dish, using a JOIN, COUNT and a ranking subquery. Three: fast search, because browsing by cuisine and area is the app's most common search, so I added a composite index. Four: valid data. Every order must belong to a real customer, restaurant and delivery agent. I'll show how each of these is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your explanation] Suggested order: start at the centre, then go outward. 1. FOOD_ORDER is the centre. It holds order_id, customer_id, restaurant_id, delivery_agent_id and order_time, the fields the brief asks for. 2. Point left-up to RESTAURANT: one restaurant receives many orders (1:M). The circle on the order end means a restaurant can have zero orders, like Malvani Tadka. 3. Right side: CUSTOMER places many orders, DELIVERY_AGENT delivers many orders. Both 1:M. The two bars on the parent end mean exactly one: every order has exactly one customer and one agent. 4. RESTAURANT down to MENU_ITEM: one restaurant offers many dishes (1:M). 5. The M:N: one order has many dishes and one dish is in many orders. A relational table can't store that directly, so ORDER_ITEM sits in the middle, with a composite primary key (order_id + menu_item_id). It also stores quantity and unit_price, the price at the time of the order. 6. PAYMENT is 1:1 with FOOD_ORDER. That comes from a foreign key that is also UNIQUE. 7. The tags: PK = primary key, FK = foreign key, UQ = unique, IX = part of the search index on cuisine and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brief points out a redundancy: the restaurant's cuisine and address were repeated on every menu-item row. On the left you can see Punjab Da Dhaba, North Indian, Kharghar, written three times. The key of that sheet is restaurant plus dish, but cuisine and address depend on the restaurant alone, which is only part of the key. That's a partial dependency, so the sheet breaks second normal form. It causes update, insert and delete anomalies: if the restaurant moves, every row must change. The fix, on the right: restaurant details are stored once in a restaurant table, and menu_item points to it with a foreign key. That gives 2NF. For 3NF, I don't store order totals. A view calculates them, so they can never go out of date. Finally, in every table, everything that determines another column is a candidate key, so the schema is in BCNF. If asked: unit_price in order_item is not redundancy. It's the price at the time of the order, so old bills stay correct when menu prices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These are the two queries the brief asks for, with real output. Left: the most popular dish for each restaurant. I JOIN the order lines with the menu items, GROUP BY restaurant and dish, and COUNT how many orders contain each dish. Then a ranking subquery in HAVING keeps only the dish whose count equals that restaurant's highest count. The subquery is correlated: it runs once for each restaurant. Butter Chicken wins at Punjab Da Dhaba with 6 orders. Look at Dragon Wok: two dishes tie at 3, and the query keeps both. I put that tie in the sample data on purpose, to prove the query handles ties. Right: revenue per restaurant. A GROUP BY with SUM over the order totals, delivered orders only. Biryani Darbar earns the most, at 5,270 rupees. I used a LEFT JOIN, so Malvani Tadka, which has no orders yet, still appears with zero instead of disappearing.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advanced concept is indexing. Browsing restaurants by cuisine and area is the app's most common search, so I created a composite B-tree index on cuisine and location. To prove it works, I loaded 200,000 test restaurants inside a transaction and ran the same search, "North Indian in Kharghar", with EXPLAIN ANALYZE. Without the index, PostgreSQL does a sequential scan and reads every row: about 13 milliseconds. With the index, it does a bitmap index scan and reads only the 835 matching rows: about 1 millisecond, roughly 13 times faster. Then I rolled the transaction back, so the test rows never touched the real data. The column order matters. Cuisine comes first, so the same index also speeds up cuisine-only searches. That's the leftmost-prefix rule. If asked: the exact milliseconds change on every run, but the plan change from Seq Scan to Index Scan is always the same. On a tiny 11-row table, PostgreSQL correctly skips the index, because one page read is cheaper.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To conclude: all four outcomes from the brief are met, and each one was verified on a live database. Delivered: a schema of 7 tables in BCNF, with a full ER diagram. The two required queries, most popular dish and revenue per restaurant. The composite index, which made the cuisine-and-area search about 13 times faster on 200,000 rows. And integrity: I tried nine invalid writes, such as an order for a customer that doesn't exist, a biryani on a pizza order, or a second payment for one order. All nine were rejected by the database itself, through foreign keys, NOT NULL, the trigger, RESTRICT, UNIQUE and CHECK. Next steps, if QuickBite grew: partition the orders table by month, turn the order-total view into a materialized view for faster revenue reports, move cuisine and area into lookup tables so spellings stay consistent, and add real distance-based search with PostGIS. Everything is in my GitHub repository. Thank you,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33A"/>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50"/>
            <a:ext cx="10566400" cy="4191050"/>
          </a:xfrm>
          <a:prstGeom prst="rect">
            <a:avLst/>
          </a:prstGeom>
          <a:noFill/>
          <a:ln/>
        </p:spPr>
        <p:txBody>
          <a:bodyPr wrap="square" lIns="0" tIns="0" rIns="0" bIns="0" rtlCol="0" anchor="t"/>
          <a:lstStyle>
            <a:lvl1pPr algn="l" indent="0" marL="0">
              <a:lnSpc>
                <a:spcPct val="140000"/>
              </a:lnSpc>
              <a:buNone/>
              <a:defRPr lang="en-US" sz="1600" dirty="0">
                <a:solidFill>
                  <a:srgbClr val="14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33A"/>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50"/>
            <a:ext cx="10566400" cy="4191050"/>
          </a:xfrm>
          <a:prstGeom prst="rect">
            <a:avLst/>
          </a:prstGeom>
          <a:noFill/>
          <a:ln/>
        </p:spPr>
        <p:txBody>
          <a:bodyPr wrap="square" lIns="0" tIns="0" rIns="0" bIns="0" rtlCol="0" anchor="t"/>
          <a:lstStyle>
            <a:lvl1pPr algn="l" indent="0" marL="0">
              <a:lnSpc>
                <a:spcPct val="140000"/>
              </a:lnSpc>
              <a:buNone/>
              <a:defRPr lang="en-US" sz="1600" dirty="0">
                <a:solidFill>
                  <a:srgbClr val="14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F"/>
        </a:solidFill>
      </p:bgPr>
    </p:bg>
    <p:spTree>
      <p:nvGrpSpPr>
        <p:cNvPr id="1" name=""/>
        <p:cNvGrpSpPr/>
        <p:nvPr/>
      </p:nvGrpSpPr>
      <p:grpSpPr>
        <a:xfrm>
          <a:off x="0" y="0"/>
          <a:ext cx="0" cy="0"/>
          <a:chOff x="0" y="0"/>
          <a:chExt cx="0" cy="0"/>
        </a:xfrm>
      </p:grpSpPr>
      <p:sp>
        <p:nvSpPr>
          <p:cNvPr id="2" name="Shape 0"/>
          <p:cNvSpPr/>
          <p:nvPr/>
        </p:nvSpPr>
        <p:spPr>
          <a:xfrm>
            <a:off x="812800" y="812800"/>
            <a:ext cx="2393950" cy="895350"/>
          </a:xfrm>
          <a:prstGeom prst="roundRect">
            <a:avLst>
              <a:gd name="adj" fmla="val 17021"/>
            </a:avLst>
          </a:prstGeom>
          <a:solidFill>
            <a:srgbClr val="F6F4EF"/>
          </a:solidFill>
          <a:ln/>
        </p:spPr>
      </p:sp>
      <p:pic>
        <p:nvPicPr>
          <p:cNvPr id="3" name="Image 0" descr="ITM Skills University logo">    </p:cNvPr>
          <p:cNvPicPr>
            <a:picLocks noChangeAspect="1"/>
          </p:cNvPicPr>
          <p:nvPr/>
        </p:nvPicPr>
        <p:blipFill>
          <a:blip r:embed="rId1"/>
          <a:srcRect l="0" r="0" t="-68" b="-68"/>
          <a:stretch/>
        </p:blipFill>
        <p:spPr>
          <a:xfrm>
            <a:off x="990600" y="939800"/>
            <a:ext cx="2038350" cy="641350"/>
          </a:xfrm>
          <a:prstGeom prst="rect">
            <a:avLst/>
          </a:prstGeom>
        </p:spPr>
      </p:pic>
      <p:sp>
        <p:nvSpPr>
          <p:cNvPr id="4" name="Text 1"/>
          <p:cNvSpPr/>
          <p:nvPr/>
        </p:nvSpPr>
        <p:spPr>
          <a:xfrm>
            <a:off x="3409950" y="1117600"/>
            <a:ext cx="457835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CC6D8"/>
                </a:solidFill>
                <a:latin typeface="IBM Plex Sans" pitchFamily="34" charset="0"/>
                <a:ea typeface="IBM Plex Sans" pitchFamily="34" charset="-122"/>
                <a:cs typeface="IBM Plex Sans" pitchFamily="34" charset="-120"/>
              </a:rPr>
              <a:t>School of Future Tech</a:t>
            </a:r>
            <a:endParaRPr lang="en-US" sz="1600" dirty="0"/>
          </a:p>
        </p:txBody>
      </p:sp>
      <p:sp>
        <p:nvSpPr>
          <p:cNvPr id="5" name="Text 2"/>
          <p:cNvSpPr/>
          <p:nvPr/>
        </p:nvSpPr>
        <p:spPr>
          <a:xfrm>
            <a:off x="812800" y="2692400"/>
            <a:ext cx="10883392" cy="223490"/>
          </a:xfrm>
          <a:prstGeom prst="rect">
            <a:avLst/>
          </a:prstGeom>
          <a:noFill/>
          <a:ln/>
        </p:spPr>
        <p:txBody>
          <a:bodyPr wrap="square" lIns="0" tIns="0" rIns="0" bIns="0" rtlCol="0" anchor="t">
            <a:normAutofit/>
          </a:bodyPr>
          <a:lstStyle/>
          <a:p>
            <a:pPr algn="l" indent="0" marL="0">
              <a:lnSpc>
                <a:spcPts val="1560"/>
              </a:lnSpc>
              <a:buNone/>
            </a:pPr>
            <a:r>
              <a:rPr lang="en-US" sz="1200" b="1" spc="150" kern="0" dirty="0">
                <a:solidFill>
                  <a:srgbClr val="F2A266"/>
                </a:solidFill>
                <a:latin typeface="IBM Plex Sans" pitchFamily="34" charset="0"/>
                <a:ea typeface="IBM Plex Sans" pitchFamily="34" charset="-122"/>
                <a:cs typeface="IBM Plex Sans" pitchFamily="34" charset="-120"/>
              </a:rPr>
              <a:t>CASE STUDY 83 · DATABASE MANAGEMENT SYSTEMS</a:t>
            </a:r>
            <a:endParaRPr lang="en-US" sz="1200" dirty="0"/>
          </a:p>
        </p:txBody>
      </p:sp>
      <p:sp>
        <p:nvSpPr>
          <p:cNvPr id="6" name="Text 3"/>
          <p:cNvSpPr/>
          <p:nvPr>
            <p:ph type="title"/>
          </p:nvPr>
        </p:nvSpPr>
        <p:spPr>
          <a:xfrm>
            <a:off x="812800" y="306070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F"/>
                </a:solidFill>
                <a:latin typeface="Rubik" pitchFamily="34" charset="0"/>
                <a:ea typeface="Rubik" pitchFamily="34" charset="-122"/>
                <a:cs typeface="Rubik" pitchFamily="34" charset="-120"/>
              </a:rPr>
              <a:t>QuickBite</a:t>
            </a:r>
            <a:endParaRPr lang="en-US" sz="4800" dirty="0"/>
          </a:p>
        </p:txBody>
      </p:sp>
      <p:sp>
        <p:nvSpPr>
          <p:cNvPr id="7" name="Text 4"/>
          <p:cNvSpPr/>
          <p:nvPr/>
        </p:nvSpPr>
        <p:spPr>
          <a:xfrm>
            <a:off x="812800" y="3848100"/>
            <a:ext cx="10883392"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DE3EE"/>
                </a:solidFill>
                <a:latin typeface="IBM Plex Sans" pitchFamily="34" charset="0"/>
                <a:ea typeface="IBM Plex Sans" pitchFamily="34" charset="-122"/>
                <a:cs typeface="IBM Plex Sans" pitchFamily="34" charset="-120"/>
              </a:rPr>
              <a:t>Food Delivery Order &amp; Restaurant Management System — a relational database built with PostgreSQL</a:t>
            </a:r>
            <a:endParaRPr lang="en-US" sz="2000" dirty="0"/>
          </a:p>
        </p:txBody>
      </p:sp>
      <p:sp>
        <p:nvSpPr>
          <p:cNvPr id="8" name="Text 5"/>
          <p:cNvSpPr/>
          <p:nvPr/>
        </p:nvSpPr>
        <p:spPr>
          <a:xfrm>
            <a:off x="812800" y="549910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6F4EF"/>
                </a:solidFill>
                <a:latin typeface="IBM Plex Sans" pitchFamily="34" charset="0"/>
                <a:ea typeface="IBM Plex Sans" pitchFamily="34" charset="-122"/>
                <a:cs typeface="IBM Plex Sans" pitchFamily="34" charset="-120"/>
              </a:rPr>
              <a:t>Aditya Sunil Chouksey</a:t>
            </a:r>
            <a:endParaRPr lang="en-US" sz="1600" dirty="0"/>
          </a:p>
        </p:txBody>
      </p:sp>
      <p:sp>
        <p:nvSpPr>
          <p:cNvPr id="9" name="Text 6"/>
          <p:cNvSpPr/>
          <p:nvPr/>
        </p:nvSpPr>
        <p:spPr>
          <a:xfrm>
            <a:off x="812800" y="5829300"/>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CC6D8"/>
                </a:solidFill>
                <a:latin typeface="IBM Plex Sans" pitchFamily="34" charset="0"/>
                <a:ea typeface="IBM Plex Sans" pitchFamily="34" charset="-122"/>
                <a:cs typeface="IBM Plex Sans" pitchFamily="34" charset="-120"/>
              </a:rPr>
              <a:t>150096725070 · B.Tech Computer Science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A6212"/>
                </a:solidFill>
                <a:latin typeface="JetBrains Mono" pitchFamily="49" charset="0"/>
                <a:ea typeface="JetBrains Mono" pitchFamily="49" charset="-122"/>
                <a:cs typeface="JetBrains Mono" pitchFamily="49" charset="-120"/>
              </a:rPr>
              <a:t>INTRO</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33A"/>
                </a:solidFill>
                <a:latin typeface="Rubik" pitchFamily="34" charset="0"/>
                <a:ea typeface="Rubik" pitchFamily="34" charset="-122"/>
                <a:cs typeface="Rubik" pitchFamily="34" charset="-120"/>
              </a:rPr>
              <a:t>The problem</a:t>
            </a:r>
            <a:endParaRPr lang="en-US" sz="3200" dirty="0"/>
          </a:p>
        </p:txBody>
      </p:sp>
      <p:sp>
        <p:nvSpPr>
          <p:cNvPr id="4" name="Text 2"/>
          <p:cNvSpPr/>
          <p:nvPr/>
        </p:nvSpPr>
        <p:spPr>
          <a:xfrm>
            <a:off x="812800" y="1854150"/>
            <a:ext cx="9810750" cy="98549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33A"/>
                </a:solidFill>
                <a:latin typeface="IBM Plex Sans" pitchFamily="34" charset="0"/>
                <a:ea typeface="IBM Plex Sans" pitchFamily="34" charset="-122"/>
                <a:cs typeface="IBM Plex Sans" pitchFamily="34" charset="-120"/>
              </a:rPr>
              <a:t>QuickBite lists restaurant menus and processes customer orders. It needs one database that tracks </a:t>
            </a:r>
            <a:r>
              <a:rPr lang="en-US" sz="1800" b="1" dirty="0">
                <a:solidFill>
                  <a:srgbClr val="14233A"/>
                </a:solidFill>
                <a:latin typeface="IBM Plex Sans" pitchFamily="34" charset="0"/>
                <a:ea typeface="IBM Plex Sans" pitchFamily="34" charset="-122"/>
                <a:cs typeface="IBM Plex Sans" pitchFamily="34" charset="-120"/>
              </a:rPr>
              <a:t>revenue per restaurant</a:t>
            </a:r>
            <a:r>
              <a:rPr lang="en-US" sz="1800" dirty="0">
                <a:solidFill>
                  <a:srgbClr val="14233A"/>
                </a:solidFill>
                <a:latin typeface="IBM Plex Sans" pitchFamily="34" charset="0"/>
                <a:ea typeface="IBM Plex Sans" pitchFamily="34" charset="-122"/>
                <a:cs typeface="IBM Plex Sans" pitchFamily="34" charset="-120"/>
              </a:rPr>
              <a:t> and surfaces each restaurant's </a:t>
            </a:r>
            <a:r>
              <a:rPr lang="en-US" sz="1800" b="1" dirty="0">
                <a:solidFill>
                  <a:srgbClr val="14233A"/>
                </a:solidFill>
                <a:latin typeface="IBM Plex Sans" pitchFamily="34" charset="0"/>
                <a:ea typeface="IBM Plex Sans" pitchFamily="34" charset="-122"/>
                <a:cs typeface="IBM Plex Sans" pitchFamily="34" charset="-120"/>
              </a:rPr>
              <a:t>most popular dish</a:t>
            </a:r>
            <a:r>
              <a:rPr lang="en-US" sz="1800" dirty="0">
                <a:solidFill>
                  <a:srgbClr val="14233A"/>
                </a:solidFill>
                <a:latin typeface="IBM Plex Sans" pitchFamily="34" charset="0"/>
                <a:ea typeface="IBM Plex Sans" pitchFamily="34" charset="-122"/>
                <a:cs typeface="IBM Plex Sans" pitchFamily="34" charset="-120"/>
              </a:rPr>
              <a:t> for promotion.</a:t>
            </a:r>
            <a:endParaRPr lang="en-US" sz="1800" dirty="0"/>
          </a:p>
        </p:txBody>
      </p:sp>
      <p:sp>
        <p:nvSpPr>
          <p:cNvPr id="5" name="Shape 3"/>
          <p:cNvSpPr/>
          <p:nvPr/>
        </p:nvSpPr>
        <p:spPr>
          <a:xfrm>
            <a:off x="815975" y="3122216"/>
            <a:ext cx="2482850" cy="2589411"/>
          </a:xfrm>
          <a:prstGeom prst="roundRect">
            <a:avLst>
              <a:gd name="adj" fmla="val 3964"/>
            </a:avLst>
          </a:prstGeom>
          <a:solidFill>
            <a:srgbClr val="FCFDFE"/>
          </a:solidFill>
          <a:ln w="6350">
            <a:solidFill>
              <a:srgbClr val="D9E0E8"/>
            </a:solidFill>
            <a:prstDash val="solid"/>
          </a:ln>
        </p:spPr>
      </p:sp>
      <p:pic>
        <p:nvPicPr>
          <p:cNvPr id="6" name="Image 0" descr="Chart">    </p:cNvPr>
          <p:cNvPicPr>
            <a:picLocks noChangeAspect="1"/>
          </p:cNvPicPr>
          <p:nvPr/>
        </p:nvPicPr>
        <p:blipFill>
          <a:blip r:embed="rId1"/>
          <a:srcRect l="0" r="0" t="0" b="0"/>
          <a:stretch/>
        </p:blipFill>
        <p:spPr>
          <a:xfrm>
            <a:off x="1073150" y="3379391"/>
            <a:ext cx="355600" cy="355600"/>
          </a:xfrm>
          <a:prstGeom prst="rect">
            <a:avLst/>
          </a:prstGeom>
        </p:spPr>
      </p:pic>
      <p:sp>
        <p:nvSpPr>
          <p:cNvPr id="7" name="Text 4"/>
          <p:cNvSpPr/>
          <p:nvPr/>
        </p:nvSpPr>
        <p:spPr>
          <a:xfrm>
            <a:off x="1073150" y="3836591"/>
            <a:ext cx="2027555"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33A"/>
                </a:solidFill>
                <a:latin typeface="Rubik" pitchFamily="34" charset="0"/>
                <a:ea typeface="Rubik" pitchFamily="34" charset="-122"/>
                <a:cs typeface="Rubik" pitchFamily="34" charset="-120"/>
              </a:rPr>
              <a:t>Revenue per restaurant</a:t>
            </a:r>
            <a:endParaRPr lang="en-US" sz="1800" dirty="0"/>
          </a:p>
        </p:txBody>
      </p:sp>
      <p:sp>
        <p:nvSpPr>
          <p:cNvPr id="8" name="Text 5"/>
          <p:cNvSpPr/>
          <p:nvPr/>
        </p:nvSpPr>
        <p:spPr>
          <a:xfrm>
            <a:off x="1073150" y="4463951"/>
            <a:ext cx="202755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Total earned from delivered orders</a:t>
            </a:r>
            <a:endParaRPr lang="en-US" sz="1300" dirty="0"/>
          </a:p>
        </p:txBody>
      </p:sp>
      <p:sp>
        <p:nvSpPr>
          <p:cNvPr id="9" name="Text 6"/>
          <p:cNvSpPr/>
          <p:nvPr/>
        </p:nvSpPr>
        <p:spPr>
          <a:xfrm>
            <a:off x="1073150" y="502781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6212"/>
                </a:solidFill>
                <a:latin typeface="JetBrains Mono" pitchFamily="49" charset="0"/>
                <a:ea typeface="JetBrains Mono" pitchFamily="49" charset="-122"/>
                <a:cs typeface="JetBrains Mono" pitchFamily="49" charset="-120"/>
              </a:rPr>
              <a:t>GROUP BY + SUM</a:t>
            </a:r>
            <a:endParaRPr lang="en-US" sz="1200" dirty="0"/>
          </a:p>
        </p:txBody>
      </p:sp>
      <p:sp>
        <p:nvSpPr>
          <p:cNvPr id="10" name="Shape 7"/>
          <p:cNvSpPr/>
          <p:nvPr/>
        </p:nvSpPr>
        <p:spPr>
          <a:xfrm>
            <a:off x="3508375" y="3122216"/>
            <a:ext cx="2482850" cy="2589411"/>
          </a:xfrm>
          <a:prstGeom prst="roundRect">
            <a:avLst>
              <a:gd name="adj" fmla="val 3964"/>
            </a:avLst>
          </a:prstGeom>
          <a:solidFill>
            <a:srgbClr val="FCFDFE"/>
          </a:solidFill>
          <a:ln w="6350">
            <a:solidFill>
              <a:srgbClr val="D9E0E8"/>
            </a:solidFill>
            <a:prstDash val="solid"/>
          </a:ln>
        </p:spPr>
      </p:sp>
      <p:pic>
        <p:nvPicPr>
          <p:cNvPr id="11" name="Image 1" descr="Star">    </p:cNvPr>
          <p:cNvPicPr>
            <a:picLocks noChangeAspect="1"/>
          </p:cNvPicPr>
          <p:nvPr/>
        </p:nvPicPr>
        <p:blipFill>
          <a:blip r:embed="rId2"/>
          <a:srcRect l="0" r="0" t="0" b="0"/>
          <a:stretch/>
        </p:blipFill>
        <p:spPr>
          <a:xfrm>
            <a:off x="3765550" y="3379391"/>
            <a:ext cx="355600" cy="355600"/>
          </a:xfrm>
          <a:prstGeom prst="rect">
            <a:avLst/>
          </a:prstGeom>
        </p:spPr>
      </p:pic>
      <p:sp>
        <p:nvSpPr>
          <p:cNvPr id="12" name="Text 8"/>
          <p:cNvSpPr/>
          <p:nvPr/>
        </p:nvSpPr>
        <p:spPr>
          <a:xfrm>
            <a:off x="3765550" y="3836591"/>
            <a:ext cx="2027555"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33A"/>
                </a:solidFill>
                <a:latin typeface="Rubik" pitchFamily="34" charset="0"/>
                <a:ea typeface="Rubik" pitchFamily="34" charset="-122"/>
                <a:cs typeface="Rubik" pitchFamily="34" charset="-120"/>
              </a:rPr>
              <a:t>Most popular dish</a:t>
            </a:r>
            <a:endParaRPr lang="en-US" sz="1800" dirty="0"/>
          </a:p>
        </p:txBody>
      </p:sp>
      <p:sp>
        <p:nvSpPr>
          <p:cNvPr id="13" name="Text 9"/>
          <p:cNvSpPr/>
          <p:nvPr/>
        </p:nvSpPr>
        <p:spPr>
          <a:xfrm>
            <a:off x="3765550" y="4463951"/>
            <a:ext cx="202755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Top dish of each restaurant, ties included</a:t>
            </a:r>
            <a:endParaRPr lang="en-US" sz="1300" dirty="0"/>
          </a:p>
        </p:txBody>
      </p:sp>
      <p:sp>
        <p:nvSpPr>
          <p:cNvPr id="14" name="Text 10"/>
          <p:cNvSpPr/>
          <p:nvPr/>
        </p:nvSpPr>
        <p:spPr>
          <a:xfrm>
            <a:off x="3765550" y="5027811"/>
            <a:ext cx="20275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6212"/>
                </a:solidFill>
                <a:latin typeface="JetBrains Mono" pitchFamily="49" charset="0"/>
                <a:ea typeface="JetBrains Mono" pitchFamily="49" charset="-122"/>
                <a:cs typeface="JetBrains Mono" pitchFamily="49" charset="-120"/>
              </a:rPr>
              <a:t>JOIN + COUNT + subquery</a:t>
            </a:r>
            <a:endParaRPr lang="en-US" sz="1200" dirty="0"/>
          </a:p>
        </p:txBody>
      </p:sp>
      <p:sp>
        <p:nvSpPr>
          <p:cNvPr id="15" name="Shape 11"/>
          <p:cNvSpPr/>
          <p:nvPr/>
        </p:nvSpPr>
        <p:spPr>
          <a:xfrm>
            <a:off x="6200775" y="3122216"/>
            <a:ext cx="2482850" cy="2589411"/>
          </a:xfrm>
          <a:prstGeom prst="roundRect">
            <a:avLst>
              <a:gd name="adj" fmla="val 3964"/>
            </a:avLst>
          </a:prstGeom>
          <a:solidFill>
            <a:srgbClr val="FCFDFE"/>
          </a:solidFill>
          <a:ln w="6350">
            <a:solidFill>
              <a:srgbClr val="D9E0E8"/>
            </a:solidFill>
            <a:prstDash val="solid"/>
          </a:ln>
        </p:spPr>
      </p:sp>
      <p:pic>
        <p:nvPicPr>
          <p:cNvPr id="16" name="Image 2" descr="Search">    </p:cNvPr>
          <p:cNvPicPr>
            <a:picLocks noChangeAspect="1"/>
          </p:cNvPicPr>
          <p:nvPr/>
        </p:nvPicPr>
        <p:blipFill>
          <a:blip r:embed="rId3"/>
          <a:srcRect l="0" r="0" t="0" b="0"/>
          <a:stretch/>
        </p:blipFill>
        <p:spPr>
          <a:xfrm>
            <a:off x="6457950" y="3379391"/>
            <a:ext cx="355600" cy="355600"/>
          </a:xfrm>
          <a:prstGeom prst="rect">
            <a:avLst/>
          </a:prstGeom>
        </p:spPr>
      </p:pic>
      <p:sp>
        <p:nvSpPr>
          <p:cNvPr id="17" name="Text 12"/>
          <p:cNvSpPr/>
          <p:nvPr/>
        </p:nvSpPr>
        <p:spPr>
          <a:xfrm>
            <a:off x="6457950" y="3836591"/>
            <a:ext cx="2027555" cy="28828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33A"/>
                </a:solidFill>
                <a:latin typeface="Rubik" pitchFamily="34" charset="0"/>
                <a:ea typeface="Rubik" pitchFamily="34" charset="-122"/>
                <a:cs typeface="Rubik" pitchFamily="34" charset="-120"/>
              </a:rPr>
              <a:t>Fast search</a:t>
            </a:r>
            <a:endParaRPr lang="en-US" sz="1800" dirty="0"/>
          </a:p>
        </p:txBody>
      </p:sp>
      <p:sp>
        <p:nvSpPr>
          <p:cNvPr id="18" name="Text 13"/>
          <p:cNvSpPr/>
          <p:nvPr/>
        </p:nvSpPr>
        <p:spPr>
          <a:xfrm>
            <a:off x="6457950" y="4201071"/>
            <a:ext cx="202755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Browse restaurants by cuisine and area</a:t>
            </a:r>
            <a:endParaRPr lang="en-US" sz="1300" dirty="0"/>
          </a:p>
        </p:txBody>
      </p:sp>
      <p:sp>
        <p:nvSpPr>
          <p:cNvPr id="19" name="Text 14"/>
          <p:cNvSpPr/>
          <p:nvPr/>
        </p:nvSpPr>
        <p:spPr>
          <a:xfrm>
            <a:off x="6457950" y="476493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6212"/>
                </a:solidFill>
                <a:latin typeface="JetBrains Mono" pitchFamily="49" charset="0"/>
                <a:ea typeface="JetBrains Mono" pitchFamily="49" charset="-122"/>
                <a:cs typeface="JetBrains Mono" pitchFamily="49" charset="-120"/>
              </a:rPr>
              <a:t>Composite index</a:t>
            </a:r>
            <a:endParaRPr lang="en-US" sz="1200" dirty="0"/>
          </a:p>
        </p:txBody>
      </p:sp>
      <p:sp>
        <p:nvSpPr>
          <p:cNvPr id="20" name="Shape 15"/>
          <p:cNvSpPr/>
          <p:nvPr/>
        </p:nvSpPr>
        <p:spPr>
          <a:xfrm>
            <a:off x="8893175" y="3122216"/>
            <a:ext cx="2482850" cy="2589411"/>
          </a:xfrm>
          <a:prstGeom prst="roundRect">
            <a:avLst>
              <a:gd name="adj" fmla="val 3964"/>
            </a:avLst>
          </a:prstGeom>
          <a:solidFill>
            <a:srgbClr val="FCFDFE"/>
          </a:solidFill>
          <a:ln w="6350">
            <a:solidFill>
              <a:srgbClr val="D9E0E8"/>
            </a:solidFill>
            <a:prstDash val="solid"/>
          </a:ln>
        </p:spPr>
      </p:sp>
      <p:pic>
        <p:nvPicPr>
          <p:cNvPr id="21" name="Image 3" descr="Lock">    </p:cNvPr>
          <p:cNvPicPr>
            <a:picLocks noChangeAspect="1"/>
          </p:cNvPicPr>
          <p:nvPr/>
        </p:nvPicPr>
        <p:blipFill>
          <a:blip r:embed="rId4"/>
          <a:srcRect l="0" r="0" t="0" b="0"/>
          <a:stretch/>
        </p:blipFill>
        <p:spPr>
          <a:xfrm>
            <a:off x="9150350" y="3379391"/>
            <a:ext cx="355600" cy="355600"/>
          </a:xfrm>
          <a:prstGeom prst="rect">
            <a:avLst/>
          </a:prstGeom>
        </p:spPr>
      </p:pic>
      <p:sp>
        <p:nvSpPr>
          <p:cNvPr id="22" name="Text 16"/>
          <p:cNvSpPr/>
          <p:nvPr/>
        </p:nvSpPr>
        <p:spPr>
          <a:xfrm>
            <a:off x="9150350" y="3836591"/>
            <a:ext cx="2027555" cy="28828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33A"/>
                </a:solidFill>
                <a:latin typeface="Rubik" pitchFamily="34" charset="0"/>
                <a:ea typeface="Rubik" pitchFamily="34" charset="-122"/>
                <a:cs typeface="Rubik" pitchFamily="34" charset="-120"/>
              </a:rPr>
              <a:t>Valid orders only</a:t>
            </a:r>
            <a:endParaRPr lang="en-US" sz="1800" dirty="0"/>
          </a:p>
        </p:txBody>
      </p:sp>
      <p:sp>
        <p:nvSpPr>
          <p:cNvPr id="23" name="Text 17"/>
          <p:cNvSpPr/>
          <p:nvPr/>
        </p:nvSpPr>
        <p:spPr>
          <a:xfrm>
            <a:off x="9150350" y="4201071"/>
            <a:ext cx="202755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Every order has a real customer, restaurant and agent</a:t>
            </a:r>
            <a:endParaRPr lang="en-US" sz="1300" dirty="0"/>
          </a:p>
        </p:txBody>
      </p:sp>
      <p:sp>
        <p:nvSpPr>
          <p:cNvPr id="24" name="Text 18"/>
          <p:cNvSpPr/>
          <p:nvPr/>
        </p:nvSpPr>
        <p:spPr>
          <a:xfrm>
            <a:off x="9150350" y="499606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6212"/>
                </a:solidFill>
                <a:latin typeface="JetBrains Mono" pitchFamily="49" charset="0"/>
                <a:ea typeface="JetBrains Mono" pitchFamily="49" charset="-122"/>
                <a:cs typeface="JetBrains Mono" pitchFamily="49" charset="-120"/>
              </a:rPr>
              <a:t>FKs + trigger</a:t>
            </a:r>
            <a:endParaRPr lang="en-US" sz="1200" dirty="0"/>
          </a:p>
        </p:txBody>
      </p:sp>
      <p:sp>
        <p:nvSpPr>
          <p:cNvPr id="25" name="Text 19"/>
          <p:cNvSpPr/>
          <p:nvPr/>
        </p:nvSpPr>
        <p:spPr>
          <a:xfrm>
            <a:off x="812800" y="6235700"/>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789"/>
                </a:solidFill>
                <a:latin typeface="IBM Plex Sans" pitchFamily="34" charset="0"/>
                <a:ea typeface="IBM Plex Sans" pitchFamily="34" charset="-122"/>
                <a:cs typeface="IBM Plex Sans" pitchFamily="34" charset="-120"/>
              </a:rPr>
              <a:t>QuickBite · Case Study 83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EF4"/>
        </a:solidFill>
      </p:bgPr>
    </p:bg>
    <p:spTree>
      <p:nvGrpSpPr>
        <p:cNvPr id="1" name=""/>
        <p:cNvGrpSpPr/>
        <p:nvPr/>
      </p:nvGrpSpPr>
      <p:grpSpPr>
        <a:xfrm>
          <a:off x="0" y="0"/>
          <a:ext cx="0" cy="0"/>
          <a:chOff x="0" y="0"/>
          <a:chExt cx="0" cy="0"/>
        </a:xfrm>
      </p:grpSpPr>
      <p:sp>
        <p:nvSpPr>
          <p:cNvPr id="2" name="Shape 0"/>
          <p:cNvSpPr/>
          <p:nvPr/>
        </p:nvSpPr>
        <p:spPr>
          <a:xfrm>
            <a:off x="815975" y="815975"/>
            <a:ext cx="7105650" cy="5022850"/>
          </a:xfrm>
          <a:prstGeom prst="roundRect">
            <a:avLst>
              <a:gd name="adj" fmla="val 1960"/>
            </a:avLst>
          </a:prstGeom>
          <a:solidFill>
            <a:srgbClr val="FCFDFE"/>
          </a:solidFill>
          <a:ln w="6350">
            <a:solidFill>
              <a:srgbClr val="CBD5E1"/>
            </a:solidFill>
            <a:prstDash val="solid"/>
          </a:ln>
        </p:spPr>
      </p:sp>
      <p:pic>
        <p:nvPicPr>
          <p:cNvPr id="3" name="Image 0" descr="QuickBite ER diagram in crow's-foot notation: Restaurant, MenuItem, FoodOrder, OrderItem, Customer, DeliveryAgent and Payment, with primary and foreign keys marked">    </p:cNvPr>
          <p:cNvPicPr>
            <a:picLocks noChangeAspect="1"/>
          </p:cNvPicPr>
          <p:nvPr/>
        </p:nvPicPr>
        <p:blipFill>
          <a:blip r:embed="rId1"/>
          <a:srcRect l="-145" r="-145" t="0" b="0"/>
          <a:stretch/>
        </p:blipFill>
        <p:spPr>
          <a:xfrm>
            <a:off x="920750" y="920750"/>
            <a:ext cx="6896100" cy="4813300"/>
          </a:xfrm>
          <a:prstGeom prst="rect">
            <a:avLst/>
          </a:prstGeom>
        </p:spPr>
      </p:pic>
      <p:sp>
        <p:nvSpPr>
          <p:cNvPr id="4" name="Text 1"/>
          <p:cNvSpPr/>
          <p:nvPr/>
        </p:nvSpPr>
        <p:spPr>
          <a:xfrm>
            <a:off x="8229600" y="812800"/>
            <a:ext cx="324408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A6212"/>
                </a:solidFill>
                <a:latin typeface="JetBrains Mono" pitchFamily="49" charset="0"/>
                <a:ea typeface="JetBrains Mono" pitchFamily="49" charset="-122"/>
                <a:cs typeface="JetBrains Mono" pitchFamily="49" charset="-120"/>
              </a:rPr>
              <a:t>DESIGN</a:t>
            </a:r>
            <a:endParaRPr lang="en-US" sz="1200" dirty="0"/>
          </a:p>
        </p:txBody>
      </p:sp>
      <p:sp>
        <p:nvSpPr>
          <p:cNvPr id="5" name="Text 2"/>
          <p:cNvSpPr/>
          <p:nvPr>
            <p:ph type="title"/>
          </p:nvPr>
        </p:nvSpPr>
        <p:spPr>
          <a:xfrm>
            <a:off x="8229600" y="1102320"/>
            <a:ext cx="3244088"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33A"/>
                </a:solidFill>
                <a:latin typeface="Rubik" pitchFamily="34" charset="0"/>
                <a:ea typeface="Rubik" pitchFamily="34" charset="-122"/>
                <a:cs typeface="Rubik" pitchFamily="34" charset="-120"/>
              </a:rPr>
              <a:t>ER diagram</a:t>
            </a:r>
            <a:endParaRPr lang="en-US" sz="3200" dirty="0"/>
          </a:p>
        </p:txBody>
      </p:sp>
      <p:sp>
        <p:nvSpPr>
          <p:cNvPr id="6" name="Text 3"/>
          <p:cNvSpPr/>
          <p:nvPr/>
        </p:nvSpPr>
        <p:spPr>
          <a:xfrm>
            <a:off x="8229600" y="1625550"/>
            <a:ext cx="324408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7 entities, crow's-foot notation</a:t>
            </a:r>
            <a:endParaRPr lang="en-US" sz="1300" dirty="0"/>
          </a:p>
        </p:txBody>
      </p:sp>
      <p:sp>
        <p:nvSpPr>
          <p:cNvPr id="7" name="Text 4"/>
          <p:cNvSpPr/>
          <p:nvPr/>
        </p:nvSpPr>
        <p:spPr>
          <a:xfrm>
            <a:off x="8229600" y="2059880"/>
            <a:ext cx="609600" cy="289520"/>
          </a:xfrm>
          <a:prstGeom prst="roundRect">
            <a:avLst>
              <a:gd name="adj" fmla="val 17546"/>
            </a:avLst>
          </a:prstGeom>
          <a:solidFill>
            <a:srgbClr val="14233A"/>
          </a:solidFill>
          <a:ln/>
        </p:spPr>
        <p:txBody>
          <a:bodyPr wrap="none" lIns="0" tIns="0" rIns="0" bIns="0" rtlCol="0" anchor="ctr">
            <a:normAutofit/>
          </a:bodyPr>
          <a:lstStyle/>
          <a:p>
            <a:pPr algn="ctr" indent="0" marL="0">
              <a:lnSpc>
                <a:spcPts val="1680"/>
              </a:lnSpc>
              <a:buNone/>
            </a:pPr>
            <a:r>
              <a:rPr lang="en-US" sz="1200" b="1" dirty="0">
                <a:solidFill>
                  <a:srgbClr val="F5F7FA"/>
                </a:solidFill>
                <a:latin typeface="JetBrains Mono" pitchFamily="49" charset="0"/>
                <a:ea typeface="JetBrains Mono" pitchFamily="49" charset="-122"/>
                <a:cs typeface="JetBrains Mono" pitchFamily="49" charset="-120"/>
              </a:rPr>
              <a:t>1 : M</a:t>
            </a:r>
            <a:endParaRPr lang="en-US" sz="1200" dirty="0"/>
          </a:p>
        </p:txBody>
      </p:sp>
      <p:sp>
        <p:nvSpPr>
          <p:cNvPr id="8" name="Text 5"/>
          <p:cNvSpPr/>
          <p:nvPr/>
        </p:nvSpPr>
        <p:spPr>
          <a:xfrm>
            <a:off x="8940800" y="2059880"/>
            <a:ext cx="260508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33A"/>
                </a:solidFill>
                <a:latin typeface="IBM Plex Sans" pitchFamily="34" charset="0"/>
                <a:ea typeface="IBM Plex Sans" pitchFamily="34" charset="-122"/>
                <a:cs typeface="IBM Plex Sans" pitchFamily="34" charset="-120"/>
              </a:rPr>
              <a:t>Restaurant offers MenuItems</a:t>
            </a:r>
            <a:endParaRPr lang="en-US" sz="1300" dirty="0"/>
          </a:p>
        </p:txBody>
      </p:sp>
      <p:sp>
        <p:nvSpPr>
          <p:cNvPr id="9" name="Text 6"/>
          <p:cNvSpPr/>
          <p:nvPr/>
        </p:nvSpPr>
        <p:spPr>
          <a:xfrm>
            <a:off x="8229600" y="2501801"/>
            <a:ext cx="384721" cy="289520"/>
          </a:xfrm>
          <a:prstGeom prst="roundRect">
            <a:avLst>
              <a:gd name="adj" fmla="val 17546"/>
            </a:avLst>
          </a:prstGeom>
          <a:solidFill>
            <a:srgbClr val="14233A"/>
          </a:solidFill>
          <a:ln/>
        </p:spPr>
        <p:txBody>
          <a:bodyPr wrap="none" lIns="61321" tIns="23221" rIns="10521" bIns="0" rtlCol="0" anchor="t">
            <a:normAutofit/>
          </a:bodyPr>
          <a:lstStyle/>
          <a:p>
            <a:pPr algn="l" indent="0" marL="0">
              <a:lnSpc>
                <a:spcPts val="1680"/>
              </a:lnSpc>
              <a:buNone/>
            </a:pPr>
            <a:r>
              <a:rPr lang="en-US" sz="1200" b="1" dirty="0">
                <a:solidFill>
                  <a:srgbClr val="F5F7FA"/>
                </a:solidFill>
                <a:latin typeface="JetBrains Mono" pitchFamily="49" charset="0"/>
                <a:ea typeface="JetBrains Mono" pitchFamily="49" charset="-122"/>
                <a:cs typeface="JetBrains Mono" pitchFamily="49" charset="-120"/>
              </a:rPr>
              <a:t>1 : M</a:t>
            </a:r>
            <a:endParaRPr lang="en-US" sz="1200" dirty="0"/>
          </a:p>
        </p:txBody>
      </p:sp>
      <p:sp>
        <p:nvSpPr>
          <p:cNvPr id="10" name="Text 7"/>
          <p:cNvSpPr/>
          <p:nvPr/>
        </p:nvSpPr>
        <p:spPr>
          <a:xfrm>
            <a:off x="8715921" y="2501801"/>
            <a:ext cx="274317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33A"/>
                </a:solidFill>
                <a:latin typeface="IBM Plex Sans" pitchFamily="34" charset="0"/>
                <a:ea typeface="IBM Plex Sans" pitchFamily="34" charset="-122"/>
                <a:cs typeface="IBM Plex Sans" pitchFamily="34" charset="-120"/>
              </a:rPr>
              <a:t>Customer, Restaurant and DeliveryAgent each link to many FoodOrders</a:t>
            </a:r>
            <a:endParaRPr lang="en-US" sz="1300" dirty="0"/>
          </a:p>
        </p:txBody>
      </p:sp>
      <p:sp>
        <p:nvSpPr>
          <p:cNvPr id="11" name="Text 8"/>
          <p:cNvSpPr/>
          <p:nvPr/>
        </p:nvSpPr>
        <p:spPr>
          <a:xfrm>
            <a:off x="8229600" y="3322737"/>
            <a:ext cx="475555" cy="289520"/>
          </a:xfrm>
          <a:prstGeom prst="roundRect">
            <a:avLst>
              <a:gd name="adj" fmla="val 17546"/>
            </a:avLst>
          </a:prstGeom>
          <a:solidFill>
            <a:srgbClr val="9A6212"/>
          </a:solidFill>
          <a:ln/>
        </p:spPr>
        <p:txBody>
          <a:bodyPr wrap="none" lIns="61321" tIns="23221" rIns="10521" bIns="0" rtlCol="0" anchor="t">
            <a:normAutofit/>
          </a:bodyPr>
          <a:lstStyle/>
          <a:p>
            <a:pPr algn="l" indent="0" marL="0">
              <a:lnSpc>
                <a:spcPts val="1680"/>
              </a:lnSpc>
              <a:buNone/>
            </a:pPr>
            <a:r>
              <a:rPr lang="en-US" sz="1200" b="1" dirty="0">
                <a:solidFill>
                  <a:srgbClr val="FCFDFE"/>
                </a:solidFill>
                <a:latin typeface="JetBrains Mono" pitchFamily="49" charset="0"/>
                <a:ea typeface="JetBrains Mono" pitchFamily="49" charset="-122"/>
                <a:cs typeface="JetBrains Mono" pitchFamily="49" charset="-120"/>
              </a:rPr>
              <a:t>M : N</a:t>
            </a:r>
            <a:endParaRPr lang="en-US" sz="1200" dirty="0"/>
          </a:p>
        </p:txBody>
      </p:sp>
      <p:sp>
        <p:nvSpPr>
          <p:cNvPr id="12" name="Text 9"/>
          <p:cNvSpPr/>
          <p:nvPr/>
        </p:nvSpPr>
        <p:spPr>
          <a:xfrm>
            <a:off x="8806755" y="3322737"/>
            <a:ext cx="264961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33A"/>
                </a:solidFill>
                <a:latin typeface="IBM Plex Sans" pitchFamily="34" charset="0"/>
                <a:ea typeface="IBM Plex Sans" pitchFamily="34" charset="-122"/>
                <a:cs typeface="IBM Plex Sans" pitchFamily="34" charset="-120"/>
              </a:rPr>
              <a:t>FoodOrder and MenuItem, through ORDER_ITEM</a:t>
            </a:r>
            <a:endParaRPr lang="en-US" sz="1300" dirty="0"/>
          </a:p>
        </p:txBody>
      </p:sp>
      <p:sp>
        <p:nvSpPr>
          <p:cNvPr id="13" name="Text 10"/>
          <p:cNvSpPr/>
          <p:nvPr/>
        </p:nvSpPr>
        <p:spPr>
          <a:xfrm>
            <a:off x="8229600" y="3920827"/>
            <a:ext cx="509836" cy="289520"/>
          </a:xfrm>
          <a:prstGeom prst="roundRect">
            <a:avLst>
              <a:gd name="adj" fmla="val 17546"/>
            </a:avLst>
          </a:prstGeom>
          <a:solidFill>
            <a:srgbClr val="2F5D8C"/>
          </a:solidFill>
          <a:ln/>
        </p:spPr>
        <p:txBody>
          <a:bodyPr wrap="none" lIns="61321" tIns="23221" rIns="10521" bIns="0" rtlCol="0" anchor="t">
            <a:normAutofit/>
          </a:bodyPr>
          <a:lstStyle/>
          <a:p>
            <a:pPr algn="l" indent="0" marL="0">
              <a:lnSpc>
                <a:spcPts val="1680"/>
              </a:lnSpc>
              <a:buNone/>
            </a:pPr>
            <a:r>
              <a:rPr lang="en-US" sz="1200" b="1" dirty="0">
                <a:solidFill>
                  <a:srgbClr val="FCFDFE"/>
                </a:solidFill>
                <a:latin typeface="JetBrains Mono" pitchFamily="49" charset="0"/>
                <a:ea typeface="JetBrains Mono" pitchFamily="49" charset="-122"/>
                <a:cs typeface="JetBrains Mono" pitchFamily="49" charset="-120"/>
              </a:rPr>
              <a:t>1 : 1</a:t>
            </a:r>
            <a:endParaRPr lang="en-US" sz="1200" dirty="0"/>
          </a:p>
        </p:txBody>
      </p:sp>
      <p:sp>
        <p:nvSpPr>
          <p:cNvPr id="14" name="Text 11"/>
          <p:cNvSpPr/>
          <p:nvPr/>
        </p:nvSpPr>
        <p:spPr>
          <a:xfrm>
            <a:off x="8841036" y="3920827"/>
            <a:ext cx="261430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33A"/>
                </a:solidFill>
                <a:latin typeface="IBM Plex Sans" pitchFamily="34" charset="0"/>
                <a:ea typeface="IBM Plex Sans" pitchFamily="34" charset="-122"/>
                <a:cs typeface="IBM Plex Sans" pitchFamily="34" charset="-120"/>
              </a:rPr>
              <a:t>FoodOrder has one Payment (FK + UNIQUE)</a:t>
            </a:r>
            <a:endParaRPr lang="en-US" sz="1300" dirty="0"/>
          </a:p>
        </p:txBody>
      </p:sp>
      <p:sp>
        <p:nvSpPr>
          <p:cNvPr id="15" name="Text 12"/>
          <p:cNvSpPr/>
          <p:nvPr/>
        </p:nvSpPr>
        <p:spPr>
          <a:xfrm>
            <a:off x="812800" y="6235700"/>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789"/>
                </a:solidFill>
                <a:latin typeface="IBM Plex Sans" pitchFamily="34" charset="0"/>
                <a:ea typeface="IBM Plex Sans" pitchFamily="34" charset="-122"/>
                <a:cs typeface="IBM Plex Sans" pitchFamily="34" charset="-120"/>
              </a:rPr>
              <a:t>QuickBite · Case Study 83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26715"/>
          </a:xfrm>
          <a:prstGeom prst="rect">
            <a:avLst/>
          </a:prstGeom>
          <a:noFill/>
          <a:ln/>
        </p:spPr>
        <p:txBody>
          <a:bodyPr wrap="square" lIns="0" tIns="0" rIns="0" bIns="0" rtlCol="0" anchor="t">
            <a:normAutofit/>
          </a:bodyPr>
          <a:lstStyle/>
          <a:p>
            <a:pPr algn="l" indent="0" marL="0">
              <a:lnSpc>
                <a:spcPts val="1622"/>
              </a:lnSpc>
              <a:buNone/>
            </a:pPr>
            <a:r>
              <a:rPr lang="en-US" sz="1159" spc="150" kern="0" dirty="0">
                <a:solidFill>
                  <a:srgbClr val="9A6212"/>
                </a:solidFill>
                <a:latin typeface="JetBrains Mono" pitchFamily="49" charset="0"/>
                <a:ea typeface="JetBrains Mono" pitchFamily="49" charset="-122"/>
                <a:cs typeface="JetBrains Mono" pitchFamily="49" charset="-120"/>
              </a:rPr>
              <a:t>DESIGN</a:t>
            </a:r>
            <a:endParaRPr lang="en-US" sz="1159" dirty="0"/>
          </a:p>
        </p:txBody>
      </p:sp>
      <p:sp>
        <p:nvSpPr>
          <p:cNvPr id="3" name="Text 1"/>
          <p:cNvSpPr/>
          <p:nvPr>
            <p:ph type="title"/>
          </p:nvPr>
        </p:nvSpPr>
        <p:spPr>
          <a:xfrm>
            <a:off x="812800" y="1090315"/>
            <a:ext cx="10883392" cy="447229"/>
          </a:xfrm>
          <a:prstGeom prst="rect">
            <a:avLst/>
          </a:prstGeom>
          <a:noFill/>
          <a:ln/>
        </p:spPr>
        <p:txBody>
          <a:bodyPr wrap="square" lIns="0" tIns="0" rIns="0" bIns="0" rtlCol="0" anchor="t">
            <a:normAutofit/>
          </a:bodyPr>
          <a:lstStyle/>
          <a:p>
            <a:pPr algn="l" indent="0" marL="0">
              <a:lnSpc>
                <a:spcPts val="3322"/>
              </a:lnSpc>
              <a:buNone/>
            </a:pPr>
            <a:r>
              <a:rPr lang="en-US" sz="3020" b="1" i="0" dirty="0">
                <a:solidFill>
                  <a:srgbClr val="14233A"/>
                </a:solidFill>
                <a:latin typeface="Rubik" pitchFamily="34" charset="0"/>
                <a:ea typeface="Rubik" pitchFamily="34" charset="-122"/>
                <a:cs typeface="Rubik" pitchFamily="34" charset="-120"/>
              </a:rPr>
              <a:t>Normalization</a:t>
            </a:r>
            <a:endParaRPr lang="en-US" sz="3020" dirty="0"/>
          </a:p>
        </p:txBody>
      </p:sp>
      <p:sp>
        <p:nvSpPr>
          <p:cNvPr id="4" name="Shape 2"/>
          <p:cNvSpPr/>
          <p:nvPr/>
        </p:nvSpPr>
        <p:spPr>
          <a:xfrm>
            <a:off x="815975" y="1857028"/>
            <a:ext cx="4895850" cy="3056483"/>
          </a:xfrm>
          <a:prstGeom prst="roundRect">
            <a:avLst>
              <a:gd name="adj" fmla="val 3220"/>
            </a:avLst>
          </a:prstGeom>
          <a:solidFill>
            <a:srgbClr val="FCFDFE"/>
          </a:solidFill>
          <a:ln w="6350">
            <a:solidFill>
              <a:srgbClr val="D9E0E8"/>
            </a:solidFill>
            <a:prstDash val="solid"/>
          </a:ln>
        </p:spPr>
      </p:sp>
      <p:sp>
        <p:nvSpPr>
          <p:cNvPr id="5" name="Text 3"/>
          <p:cNvSpPr/>
          <p:nvPr/>
        </p:nvSpPr>
        <p:spPr>
          <a:xfrm>
            <a:off x="1022350" y="2063403"/>
            <a:ext cx="461759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3A"/>
                </a:solidFill>
                <a:latin typeface="Rubik" pitchFamily="34" charset="0"/>
                <a:ea typeface="Rubik" pitchFamily="34" charset="-122"/>
                <a:cs typeface="Rubik" pitchFamily="34" charset="-120"/>
              </a:rPr>
              <a:t>Before: one flat sheet</a:t>
            </a:r>
            <a:endParaRPr lang="en-US" sz="1600" dirty="0"/>
          </a:p>
        </p:txBody>
      </p:sp>
      <p:sp>
        <p:nvSpPr>
          <p:cNvPr id="6" name="Text 4"/>
          <p:cNvSpPr/>
          <p:nvPr/>
        </p:nvSpPr>
        <p:spPr>
          <a:xfrm>
            <a:off x="1022350" y="2408833"/>
            <a:ext cx="46175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6212"/>
                </a:solidFill>
                <a:latin typeface="IBM Plex Sans" pitchFamily="34" charset="0"/>
                <a:ea typeface="IBM Plex Sans" pitchFamily="34" charset="-122"/>
                <a:cs typeface="IBM Plex Sans" pitchFamily="34" charset="-120"/>
              </a:rPr>
              <a:t>Cuisine and area repeated on every dish row</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35050" y="2736453"/>
          <a:ext cx="4470400" cy="1970683"/>
        </p:xfrm>
        <a:graphic>
          <a:graphicData uri="http://schemas.openxmlformats.org/drawingml/2006/table">
            <a:tbl>
              <a:tblPr/>
              <a:tblGrid>
                <a:gridCol w="1430528"/>
                <a:gridCol w="1162304"/>
                <a:gridCol w="894080"/>
                <a:gridCol w="983488"/>
              </a:tblGrid>
              <a:tr h="332680">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restaurant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cuisine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area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dish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r>
              <a:tr h="546001">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Punjab Da Dhaba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North Indian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Kharghar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Butter Chicken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Punjab Da Dhaba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North Indian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Kharghar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Dal Makhani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Punjab Da Dhaba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North Indian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Kharghar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Paneer Tikka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bl>
          </a:graphicData>
        </a:graphic>
      </p:graphicFrame>
      <p:pic>
        <p:nvPicPr>
          <p:cNvPr id="8" name="Image 0" descr="arrow-right">    </p:cNvPr>
          <p:cNvPicPr>
            <a:picLocks noChangeAspect="1"/>
          </p:cNvPicPr>
          <p:nvPr/>
        </p:nvPicPr>
        <p:blipFill>
          <a:blip r:embed="rId1"/>
          <a:srcRect l="0" r="0" t="0" b="0"/>
          <a:stretch/>
        </p:blipFill>
        <p:spPr>
          <a:xfrm>
            <a:off x="5867400" y="3258245"/>
            <a:ext cx="457200" cy="254000"/>
          </a:xfrm>
          <a:prstGeom prst="rect">
            <a:avLst/>
          </a:prstGeom>
        </p:spPr>
      </p:pic>
      <p:sp>
        <p:nvSpPr>
          <p:cNvPr id="9" name="Shape 5"/>
          <p:cNvSpPr/>
          <p:nvPr/>
        </p:nvSpPr>
        <p:spPr>
          <a:xfrm>
            <a:off x="6480175" y="1629718"/>
            <a:ext cx="4895850" cy="3511104"/>
          </a:xfrm>
          <a:prstGeom prst="roundRect">
            <a:avLst>
              <a:gd name="adj" fmla="val 2803"/>
            </a:avLst>
          </a:prstGeom>
          <a:solidFill>
            <a:srgbClr val="FCFDFE"/>
          </a:solidFill>
          <a:ln w="6350">
            <a:solidFill>
              <a:srgbClr val="D9E0E8"/>
            </a:solidFill>
            <a:prstDash val="solid"/>
          </a:ln>
        </p:spPr>
      </p:sp>
      <p:sp>
        <p:nvSpPr>
          <p:cNvPr id="10" name="Text 6"/>
          <p:cNvSpPr/>
          <p:nvPr/>
        </p:nvSpPr>
        <p:spPr>
          <a:xfrm>
            <a:off x="6686550" y="1836093"/>
            <a:ext cx="461759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3A"/>
                </a:solidFill>
                <a:latin typeface="Rubik" pitchFamily="34" charset="0"/>
                <a:ea typeface="Rubik" pitchFamily="34" charset="-122"/>
                <a:cs typeface="Rubik" pitchFamily="34" charset="-120"/>
              </a:rPr>
              <a:t>After: two linked tables</a:t>
            </a:r>
            <a:endParaRPr lang="en-US" sz="1600" dirty="0"/>
          </a:p>
        </p:txBody>
      </p:sp>
      <p:sp>
        <p:nvSpPr>
          <p:cNvPr id="11" name="Text 7"/>
          <p:cNvSpPr/>
          <p:nvPr/>
        </p:nvSpPr>
        <p:spPr>
          <a:xfrm>
            <a:off x="6686550" y="2181523"/>
            <a:ext cx="46175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D8C"/>
                </a:solidFill>
                <a:latin typeface="JetBrains Mono" pitchFamily="49" charset="0"/>
                <a:ea typeface="JetBrains Mono" pitchFamily="49" charset="-122"/>
                <a:cs typeface="JetBrains Mono" pitchFamily="49" charset="-120"/>
              </a:rPr>
              <a:t>restaurant</a:t>
            </a:r>
            <a:endParaRPr lang="en-US" sz="1200" dirty="0"/>
          </a:p>
        </p:txBody>
      </p:sp>
      <p:graphicFrame>
        <p:nvGraphicFramePr>
          <p:cNvPr id="12" name="Table 1"/>
          <p:cNvGraphicFramePr>
            <a:graphicFrameLocks noGrp="1"/>
          </p:cNvGraphicFramePr>
          <p:nvPr>
            <p:extLst>
              <p:ext uri="{D42A27DB-BD31-4B8C-83A1-F6EECF244321}">
                <p14:modId xmlns:p14="http://schemas.microsoft.com/office/powerpoint/2010/main" val="1579011935"/>
              </p:ext>
            </p:extLst>
          </p:nvPr>
        </p:nvGraphicFramePr>
        <p:xfrm>
          <a:off x="6699250" y="2509143"/>
          <a:ext cx="4470400" cy="665361"/>
        </p:xfrm>
        <a:graphic>
          <a:graphicData uri="http://schemas.openxmlformats.org/drawingml/2006/table">
            <a:tbl>
              <a:tblPr/>
              <a:tblGrid>
                <a:gridCol w="536448"/>
                <a:gridCol w="1609344"/>
                <a:gridCol w="1251712"/>
                <a:gridCol w="1072896"/>
              </a:tblGrid>
              <a:tr h="332680">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name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cuisine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area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Punjab Da Dhaba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North Indian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Kharghar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bl>
          </a:graphicData>
        </a:graphic>
      </p:graphicFrame>
      <p:sp>
        <p:nvSpPr>
          <p:cNvPr id="13" name="Text 8"/>
          <p:cNvSpPr/>
          <p:nvPr/>
        </p:nvSpPr>
        <p:spPr>
          <a:xfrm>
            <a:off x="6686550" y="3276104"/>
            <a:ext cx="46175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D8C"/>
                </a:solidFill>
                <a:latin typeface="JetBrains Mono" pitchFamily="49" charset="0"/>
                <a:ea typeface="JetBrains Mono" pitchFamily="49" charset="-122"/>
                <a:cs typeface="JetBrains Mono" pitchFamily="49" charset="-120"/>
              </a:rPr>
              <a:t>menu_item</a:t>
            </a:r>
            <a:endParaRPr lang="en-US" sz="1200" dirty="0"/>
          </a:p>
        </p:txBody>
      </p:sp>
      <p:graphicFrame>
        <p:nvGraphicFramePr>
          <p:cNvPr id="14" name="Table 2"/>
          <p:cNvGraphicFramePr>
            <a:graphicFrameLocks noGrp="1"/>
          </p:cNvGraphicFramePr>
          <p:nvPr>
            <p:extLst>
              <p:ext uri="{D42A27DB-BD31-4B8C-83A1-F6EECF244321}">
                <p14:modId xmlns:p14="http://schemas.microsoft.com/office/powerpoint/2010/main" val="1579011935"/>
              </p:ext>
            </p:extLst>
          </p:nvPr>
        </p:nvGraphicFramePr>
        <p:xfrm>
          <a:off x="6699250" y="3603724"/>
          <a:ext cx="4470400" cy="1330722"/>
        </p:xfrm>
        <a:graphic>
          <a:graphicData uri="http://schemas.openxmlformats.org/drawingml/2006/table">
            <a:tbl>
              <a:tblPr/>
              <a:tblGrid>
                <a:gridCol w="536448"/>
                <a:gridCol w="1788160"/>
                <a:gridCol w="2145792"/>
              </a:tblGrid>
              <a:tr h="332680">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restaurant_id (FK)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dish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Butter Chicken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Dal Makhani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Paneer Tikka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bl>
          </a:graphicData>
        </a:graphic>
      </p:graphicFrame>
      <p:sp>
        <p:nvSpPr>
          <p:cNvPr id="15" name="Text 9"/>
          <p:cNvSpPr/>
          <p:nvPr/>
        </p:nvSpPr>
        <p:spPr>
          <a:xfrm>
            <a:off x="812800" y="5258395"/>
            <a:ext cx="3454400" cy="583605"/>
          </a:xfrm>
          <a:prstGeom prst="roundRect">
            <a:avLst>
              <a:gd name="adj" fmla="val 13057"/>
            </a:avLst>
          </a:prstGeom>
          <a:solidFill>
            <a:srgbClr val="E9EEF4"/>
          </a:solidFill>
          <a:ln/>
        </p:spPr>
        <p:txBody>
          <a:bodyPr wrap="square" lIns="130082" tIns="79282" rIns="35594" bIns="53882" rtlCol="0" anchor="t">
            <a:normAutofit/>
          </a:bodyPr>
          <a:lstStyle/>
          <a:p>
            <a:pPr algn="l" indent="0" marL="0">
              <a:lnSpc>
                <a:spcPts val="1620"/>
              </a:lnSpc>
              <a:buNone/>
            </a:pPr>
            <a:r>
              <a:rPr lang="en-US" sz="1200" b="1" dirty="0">
                <a:solidFill>
                  <a:srgbClr val="14233A"/>
                </a:solidFill>
                <a:latin typeface="IBM Plex Sans" pitchFamily="34" charset="0"/>
                <a:ea typeface="IBM Plex Sans" pitchFamily="34" charset="-122"/>
                <a:cs typeface="IBM Plex Sans" pitchFamily="34" charset="-120"/>
              </a:rPr>
              <a:t>2NF</a:t>
            </a:r>
            <a:r>
              <a:rPr lang="en-US" sz="1200" dirty="0">
                <a:solidFill>
                  <a:srgbClr val="14233A"/>
                </a:solidFill>
                <a:latin typeface="IBM Plex Sans" pitchFamily="34" charset="0"/>
                <a:ea typeface="IBM Plex Sans" pitchFamily="34" charset="-122"/>
                <a:cs typeface="IBM Plex Sans" pitchFamily="34" charset="-120"/>
              </a:rPr>
              <a:t>: partial dependency on the key removed</a:t>
            </a:r>
            <a:endParaRPr lang="en-US" sz="1200" dirty="0"/>
          </a:p>
        </p:txBody>
      </p:sp>
      <p:sp>
        <p:nvSpPr>
          <p:cNvPr id="16" name="Shape 10"/>
          <p:cNvSpPr/>
          <p:nvPr/>
        </p:nvSpPr>
        <p:spPr>
          <a:xfrm>
            <a:off x="4368800" y="5258395"/>
            <a:ext cx="3454400" cy="583605"/>
          </a:xfrm>
          <a:prstGeom prst="roundRect">
            <a:avLst>
              <a:gd name="adj" fmla="val 13057"/>
            </a:avLst>
          </a:prstGeom>
          <a:solidFill>
            <a:srgbClr val="E9EEF4"/>
          </a:solidFill>
          <a:ln/>
        </p:spPr>
      </p:sp>
      <p:sp>
        <p:nvSpPr>
          <p:cNvPr id="17" name="Text 11"/>
          <p:cNvSpPr/>
          <p:nvPr/>
        </p:nvSpPr>
        <p:spPr>
          <a:xfrm>
            <a:off x="4521200" y="5359995"/>
            <a:ext cx="3244088" cy="405805"/>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33A"/>
                </a:solidFill>
                <a:latin typeface="IBM Plex Sans" pitchFamily="34" charset="0"/>
                <a:ea typeface="IBM Plex Sans" pitchFamily="34" charset="-122"/>
                <a:cs typeface="IBM Plex Sans" pitchFamily="34" charset="-120"/>
              </a:rPr>
              <a:t>3NF</a:t>
            </a:r>
            <a:r>
              <a:rPr lang="en-US" sz="1200" dirty="0">
                <a:solidFill>
                  <a:srgbClr val="14233A"/>
                </a:solidFill>
                <a:latin typeface="IBM Plex Sans" pitchFamily="34" charset="0"/>
                <a:ea typeface="IBM Plex Sans" pitchFamily="34" charset="-122"/>
                <a:cs typeface="IBM Plex Sans" pitchFamily="34" charset="-120"/>
              </a:rPr>
              <a:t>: order totals calculated by a view, not stored</a:t>
            </a:r>
            <a:endParaRPr lang="en-US" sz="1200" dirty="0"/>
          </a:p>
        </p:txBody>
      </p:sp>
      <p:sp>
        <p:nvSpPr>
          <p:cNvPr id="18" name="Text 12"/>
          <p:cNvSpPr/>
          <p:nvPr/>
        </p:nvSpPr>
        <p:spPr>
          <a:xfrm>
            <a:off x="7924800" y="5258395"/>
            <a:ext cx="3454400" cy="583605"/>
          </a:xfrm>
          <a:prstGeom prst="roundRect">
            <a:avLst>
              <a:gd name="adj" fmla="val 13057"/>
            </a:avLst>
          </a:prstGeom>
          <a:solidFill>
            <a:srgbClr val="E9EEF4"/>
          </a:solidFill>
          <a:ln/>
        </p:spPr>
        <p:txBody>
          <a:bodyPr wrap="square" lIns="130082" tIns="79282" rIns="35594" bIns="53882" rtlCol="0" anchor="t">
            <a:normAutofit/>
          </a:bodyPr>
          <a:lstStyle/>
          <a:p>
            <a:pPr algn="l" indent="0" marL="0">
              <a:lnSpc>
                <a:spcPts val="1620"/>
              </a:lnSpc>
              <a:buNone/>
            </a:pPr>
            <a:r>
              <a:rPr lang="en-US" sz="1200" b="1" dirty="0">
                <a:solidFill>
                  <a:srgbClr val="14233A"/>
                </a:solidFill>
                <a:latin typeface="IBM Plex Sans" pitchFamily="34" charset="0"/>
                <a:ea typeface="IBM Plex Sans" pitchFamily="34" charset="-122"/>
                <a:cs typeface="IBM Plex Sans" pitchFamily="34" charset="-120"/>
              </a:rPr>
              <a:t>BCNF</a:t>
            </a:r>
            <a:r>
              <a:rPr lang="en-US" sz="1200" dirty="0">
                <a:solidFill>
                  <a:srgbClr val="14233A"/>
                </a:solidFill>
                <a:latin typeface="IBM Plex Sans" pitchFamily="34" charset="0"/>
                <a:ea typeface="IBM Plex Sans" pitchFamily="34" charset="-122"/>
                <a:cs typeface="IBM Plex Sans" pitchFamily="34" charset="-120"/>
              </a:rPr>
              <a:t>: every determinant is a candidate key</a:t>
            </a:r>
            <a:endParaRPr lang="en-US" sz="1200" dirty="0"/>
          </a:p>
        </p:txBody>
      </p:sp>
      <p:sp>
        <p:nvSpPr>
          <p:cNvPr id="19" name="Text 13"/>
          <p:cNvSpPr/>
          <p:nvPr/>
        </p:nvSpPr>
        <p:spPr>
          <a:xfrm>
            <a:off x="812800" y="6235700"/>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789"/>
                </a:solidFill>
                <a:latin typeface="IBM Plex Sans" pitchFamily="34" charset="0"/>
                <a:ea typeface="IBM Plex Sans" pitchFamily="34" charset="-122"/>
                <a:cs typeface="IBM Plex Sans" pitchFamily="34" charset="-120"/>
              </a:rPr>
              <a:t>QuickBite · Case Study 83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A6212"/>
                </a:solidFill>
                <a:latin typeface="JetBrains Mono" pitchFamily="49" charset="0"/>
                <a:ea typeface="JetBrains Mono" pitchFamily="49" charset="-122"/>
                <a:cs typeface="JetBrains Mono" pitchFamily="49" charset="-120"/>
              </a:rPr>
              <a:t>RESULTS</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33A"/>
                </a:solidFill>
                <a:latin typeface="Rubik" pitchFamily="34" charset="0"/>
                <a:ea typeface="Rubik" pitchFamily="34" charset="-122"/>
                <a:cs typeface="Rubik" pitchFamily="34" charset="-120"/>
              </a:rPr>
              <a:t>Key queries</a:t>
            </a:r>
            <a:endParaRPr lang="en-US" sz="3200" dirty="0"/>
          </a:p>
        </p:txBody>
      </p:sp>
      <p:sp>
        <p:nvSpPr>
          <p:cNvPr id="4" name="Shape 2"/>
          <p:cNvSpPr/>
          <p:nvPr/>
        </p:nvSpPr>
        <p:spPr>
          <a:xfrm>
            <a:off x="815975" y="1755725"/>
            <a:ext cx="5175250" cy="3313013"/>
          </a:xfrm>
          <a:prstGeom prst="roundRect">
            <a:avLst>
              <a:gd name="adj" fmla="val 2971"/>
            </a:avLst>
          </a:prstGeom>
          <a:solidFill>
            <a:srgbClr val="FCFDFE"/>
          </a:solidFill>
          <a:ln w="6350">
            <a:solidFill>
              <a:srgbClr val="D9E0E8"/>
            </a:solidFill>
            <a:prstDash val="solid"/>
          </a:ln>
        </p:spPr>
      </p:sp>
      <p:sp>
        <p:nvSpPr>
          <p:cNvPr id="5" name="Text 3"/>
          <p:cNvSpPr/>
          <p:nvPr/>
        </p:nvSpPr>
        <p:spPr>
          <a:xfrm>
            <a:off x="1022350" y="1962100"/>
            <a:ext cx="490537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3A"/>
                </a:solidFill>
                <a:latin typeface="Rubik" pitchFamily="34" charset="0"/>
                <a:ea typeface="Rubik" pitchFamily="34" charset="-122"/>
                <a:cs typeface="Rubik" pitchFamily="34" charset="-120"/>
              </a:rPr>
              <a:t>Most popular dish per restaurant</a:t>
            </a:r>
            <a:endParaRPr lang="en-US" sz="1600" dirty="0"/>
          </a:p>
        </p:txBody>
      </p:sp>
      <p:sp>
        <p:nvSpPr>
          <p:cNvPr id="6" name="Text 4"/>
          <p:cNvSpPr/>
          <p:nvPr/>
        </p:nvSpPr>
        <p:spPr>
          <a:xfrm>
            <a:off x="1022350" y="2282130"/>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D8C"/>
                </a:solidFill>
                <a:latin typeface="JetBrains Mono" pitchFamily="49" charset="0"/>
                <a:ea typeface="JetBrains Mono" pitchFamily="49" charset="-122"/>
                <a:cs typeface="JetBrains Mono" pitchFamily="49" charset="-120"/>
              </a:rPr>
              <a:t>JOIN · GROUP BY · COUNT · ranking subquery</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35050" y="2584351"/>
          <a:ext cx="4749800" cy="1996083"/>
        </p:xfrm>
        <a:graphic>
          <a:graphicData uri="http://schemas.openxmlformats.org/drawingml/2006/table">
            <a:tbl>
              <a:tblPr/>
              <a:tblGrid>
                <a:gridCol w="1614932"/>
                <a:gridCol w="2089912"/>
                <a:gridCol w="1044956"/>
              </a:tblGrid>
              <a:tr h="332680">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restaurant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dish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orders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Punjab Da Dhaba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Butter Chicken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Biryani Darbar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Chicken Dum Biryani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Udupi Sagar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Masala Dosa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Dragon Wok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Chilli Paneer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3 · tie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Dragon Wok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Veg Hakka Noodles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3 · tie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bl>
          </a:graphicData>
        </a:graphic>
      </p:graphicFrame>
      <p:sp>
        <p:nvSpPr>
          <p:cNvPr id="8" name="Text 5"/>
          <p:cNvSpPr/>
          <p:nvPr/>
        </p:nvSpPr>
        <p:spPr>
          <a:xfrm>
            <a:off x="1022350" y="4656634"/>
            <a:ext cx="490537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C"/>
                </a:solidFill>
                <a:latin typeface="IBM Plex Sans" pitchFamily="34" charset="0"/>
                <a:ea typeface="IBM Plex Sans" pitchFamily="34" charset="-122"/>
                <a:cs typeface="IBM Plex Sans" pitchFamily="34" charset="-120"/>
              </a:rPr>
              <a:t>5 of 11 rows shown. Both tied dishes are kept.</a:t>
            </a:r>
            <a:endParaRPr lang="en-US" sz="1200" dirty="0"/>
          </a:p>
        </p:txBody>
      </p:sp>
      <p:sp>
        <p:nvSpPr>
          <p:cNvPr id="9" name="Shape 6"/>
          <p:cNvSpPr/>
          <p:nvPr/>
        </p:nvSpPr>
        <p:spPr>
          <a:xfrm>
            <a:off x="6200775" y="1755725"/>
            <a:ext cx="5175250" cy="3313013"/>
          </a:xfrm>
          <a:prstGeom prst="roundRect">
            <a:avLst>
              <a:gd name="adj" fmla="val 2971"/>
            </a:avLst>
          </a:prstGeom>
          <a:solidFill>
            <a:srgbClr val="FCFDFE"/>
          </a:solidFill>
          <a:ln w="6350">
            <a:solidFill>
              <a:srgbClr val="D9E0E8"/>
            </a:solidFill>
            <a:prstDash val="solid"/>
          </a:ln>
        </p:spPr>
      </p:sp>
      <p:sp>
        <p:nvSpPr>
          <p:cNvPr id="10" name="Text 7"/>
          <p:cNvSpPr/>
          <p:nvPr/>
        </p:nvSpPr>
        <p:spPr>
          <a:xfrm>
            <a:off x="6407150" y="1962100"/>
            <a:ext cx="490537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3A"/>
                </a:solidFill>
                <a:latin typeface="Rubik" pitchFamily="34" charset="0"/>
                <a:ea typeface="Rubik" pitchFamily="34" charset="-122"/>
                <a:cs typeface="Rubik" pitchFamily="34" charset="-120"/>
              </a:rPr>
              <a:t>Revenue per restaurant</a:t>
            </a:r>
            <a:endParaRPr lang="en-US" sz="1600" dirty="0"/>
          </a:p>
        </p:txBody>
      </p:sp>
      <p:sp>
        <p:nvSpPr>
          <p:cNvPr id="11" name="Text 8"/>
          <p:cNvSpPr/>
          <p:nvPr/>
        </p:nvSpPr>
        <p:spPr>
          <a:xfrm>
            <a:off x="6407150" y="2282130"/>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D8C"/>
                </a:solidFill>
                <a:latin typeface="JetBrains Mono" pitchFamily="49" charset="0"/>
                <a:ea typeface="JetBrains Mono" pitchFamily="49" charset="-122"/>
                <a:cs typeface="JetBrains Mono" pitchFamily="49" charset="-120"/>
              </a:rPr>
              <a:t>LEFT JOIN · GROUP BY · SUM</a:t>
            </a:r>
            <a:endParaRPr lang="en-US" sz="1200" dirty="0"/>
          </a:p>
        </p:txBody>
      </p:sp>
      <p:graphicFrame>
        <p:nvGraphicFramePr>
          <p:cNvPr id="12" name="Table 1"/>
          <p:cNvGraphicFramePr>
            <a:graphicFrameLocks noGrp="1"/>
          </p:cNvGraphicFramePr>
          <p:nvPr>
            <p:extLst>
              <p:ext uri="{D42A27DB-BD31-4B8C-83A1-F6EECF244321}">
                <p14:modId xmlns:p14="http://schemas.microsoft.com/office/powerpoint/2010/main" val="1579011935"/>
              </p:ext>
            </p:extLst>
          </p:nvPr>
        </p:nvGraphicFramePr>
        <p:xfrm>
          <a:off x="6419850" y="2584351"/>
          <a:ext cx="4749800" cy="1996083"/>
        </p:xfrm>
        <a:graphic>
          <a:graphicData uri="http://schemas.openxmlformats.org/drawingml/2006/table">
            <a:tbl>
              <a:tblPr/>
              <a:tblGrid>
                <a:gridCol w="2184908"/>
                <a:gridCol w="1139952"/>
                <a:gridCol w="1424940"/>
              </a:tblGrid>
              <a:tr h="332680">
                <a:tc>
                  <a:txBody>
                    <a:bodyPr/>
                    <a:lstStyle/>
                    <a:p>
                      <a:pP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restaurant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algn="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delivered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algn="r"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revenue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Biryani Darbar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algn="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algn="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₹5,270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La Pizzeria Napoli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algn="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algn="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₹4,447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Punjab Da Dhaba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algn="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algn="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₹4,330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algn="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algn="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Malvani Tadka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algn="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algn="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bl>
          </a:graphicData>
        </a:graphic>
      </p:graphicFrame>
      <p:sp>
        <p:nvSpPr>
          <p:cNvPr id="13" name="Text 9"/>
          <p:cNvSpPr/>
          <p:nvPr/>
        </p:nvSpPr>
        <p:spPr>
          <a:xfrm>
            <a:off x="6407150" y="4656634"/>
            <a:ext cx="490537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C"/>
                </a:solidFill>
                <a:latin typeface="IBM Plex Sans" pitchFamily="34" charset="0"/>
                <a:ea typeface="IBM Plex Sans" pitchFamily="34" charset="-122"/>
                <a:cs typeface="IBM Plex Sans" pitchFamily="34" charset="-120"/>
              </a:rPr>
              <a:t>LEFT JOIN keeps a restaurant with no orders, at ₹0.</a:t>
            </a:r>
            <a:endParaRPr lang="en-US" sz="1200" dirty="0"/>
          </a:p>
        </p:txBody>
      </p:sp>
      <p:sp>
        <p:nvSpPr>
          <p:cNvPr id="14" name="Text 10"/>
          <p:cNvSpPr/>
          <p:nvPr/>
        </p:nvSpPr>
        <p:spPr>
          <a:xfrm>
            <a:off x="812800" y="5275114"/>
            <a:ext cx="113792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Cancelled orders are excluded everywhere. Revenue counts delivered orders only. All 10 queries and their outputs are in </a:t>
            </a:r>
            <a:r>
              <a:rPr lang="en-US" sz="1300" dirty="0">
                <a:solidFill>
                  <a:srgbClr val="2F5D8C"/>
                </a:solidFill>
                <a:latin typeface="IBM Plex Sans" pitchFamily="34" charset="0"/>
                <a:ea typeface="IBM Plex Sans" pitchFamily="34" charset="-122"/>
                <a:cs typeface="IBM Plex Sans" pitchFamily="34" charset="-120"/>
              </a:rPr>
              <a:t>sql/04_queries.sql</a:t>
            </a:r>
            <a:r>
              <a:rPr lang="en-US" sz="1300" dirty="0">
                <a:solidFill>
                  <a:srgbClr val="3D4A5C"/>
                </a:solidFill>
                <a:latin typeface="IBM Plex Sans" pitchFamily="34" charset="0"/>
                <a:ea typeface="IBM Plex Sans" pitchFamily="34" charset="-122"/>
                <a:cs typeface="IBM Plex Sans" pitchFamily="34" charset="-120"/>
              </a:rPr>
              <a:t>.</a:t>
            </a:r>
            <a:endParaRPr lang="en-US" sz="1300" dirty="0"/>
          </a:p>
        </p:txBody>
      </p:sp>
      <p:sp>
        <p:nvSpPr>
          <p:cNvPr id="15" name="Text 11"/>
          <p:cNvSpPr/>
          <p:nvPr/>
        </p:nvSpPr>
        <p:spPr>
          <a:xfrm>
            <a:off x="812800" y="6235700"/>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789"/>
                </a:solidFill>
                <a:latin typeface="IBM Plex Sans" pitchFamily="34" charset="0"/>
                <a:ea typeface="IBM Plex Sans" pitchFamily="34" charset="-122"/>
                <a:cs typeface="IBM Plex Sans" pitchFamily="34" charset="-120"/>
              </a:rPr>
              <a:t>QuickBite · Case Study 83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04A"/>
                </a:solidFill>
                <a:latin typeface="JetBrains Mono" pitchFamily="49" charset="0"/>
                <a:ea typeface="JetBrains Mono" pitchFamily="49" charset="-122"/>
                <a:cs typeface="JetBrains Mono" pitchFamily="49" charset="-120"/>
              </a:rPr>
              <a:t>RESULTS</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7FA"/>
                </a:solidFill>
                <a:latin typeface="Rubik" pitchFamily="34" charset="0"/>
                <a:ea typeface="Rubik" pitchFamily="34" charset="-122"/>
                <a:cs typeface="Rubik" pitchFamily="34" charset="-120"/>
              </a:rPr>
              <a:t>Indexing</a:t>
            </a:r>
            <a:endParaRPr lang="en-US" sz="3200" dirty="0"/>
          </a:p>
        </p:txBody>
      </p:sp>
      <p:sp>
        <p:nvSpPr>
          <p:cNvPr id="4" name="Text 2"/>
          <p:cNvSpPr/>
          <p:nvPr/>
        </p:nvSpPr>
        <p:spPr>
          <a:xfrm>
            <a:off x="815975" y="1857325"/>
            <a:ext cx="10560050" cy="560040"/>
          </a:xfrm>
          <a:prstGeom prst="roundRect">
            <a:avLst>
              <a:gd name="adj" fmla="val 13039"/>
            </a:avLst>
          </a:prstGeom>
          <a:solidFill>
            <a:srgbClr val="1B2D48"/>
          </a:solidFill>
          <a:ln w="6350">
            <a:solidFill>
              <a:srgbClr val="34507A"/>
            </a:solidFill>
            <a:prstDash val="solid"/>
          </a:ln>
        </p:spPr>
        <p:txBody>
          <a:bodyPr wrap="square" lIns="184987" tIns="134187" rIns="0" bIns="108787" rtlCol="0" anchor="t">
            <a:normAutofit/>
          </a:bodyPr>
          <a:lstStyle/>
          <a:p>
            <a:pPr algn="l" indent="0" marL="0">
              <a:lnSpc>
                <a:spcPts val="1960"/>
              </a:lnSpc>
              <a:buNone/>
            </a:pPr>
            <a:r>
              <a:rPr lang="en-US" sz="1400" dirty="0">
                <a:solidFill>
                  <a:srgbClr val="F5F7FA"/>
                </a:solidFill>
                <a:latin typeface="JetBrains Mono" pitchFamily="49" charset="0"/>
                <a:ea typeface="JetBrains Mono" pitchFamily="49" charset="-122"/>
                <a:cs typeface="JetBrains Mono" pitchFamily="49" charset="-120"/>
              </a:rPr>
              <a:t>CREATE INDEX idx_restaurant_cuisine_location ON restaurant (cuisine, location);</a:t>
            </a:r>
            <a:endParaRPr lang="en-US" sz="1400" dirty="0"/>
          </a:p>
        </p:txBody>
      </p:sp>
      <p:sp>
        <p:nvSpPr>
          <p:cNvPr id="5" name="Text 3"/>
          <p:cNvSpPr/>
          <p:nvPr/>
        </p:nvSpPr>
        <p:spPr>
          <a:xfrm>
            <a:off x="812800" y="2725341"/>
            <a:ext cx="334204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BFD0E3"/>
                </a:solidFill>
                <a:latin typeface="IBM Plex Sans" pitchFamily="34" charset="0"/>
                <a:ea typeface="IBM Plex Sans" pitchFamily="34" charset="-122"/>
                <a:cs typeface="IBM Plex Sans" pitchFamily="34" charset="-120"/>
              </a:rPr>
              <a:t>WITHOUT INDEX</a:t>
            </a:r>
            <a:endParaRPr lang="en-US" sz="1300" dirty="0"/>
          </a:p>
        </p:txBody>
      </p:sp>
      <p:sp>
        <p:nvSpPr>
          <p:cNvPr id="6" name="Text 4"/>
          <p:cNvSpPr/>
          <p:nvPr/>
        </p:nvSpPr>
        <p:spPr>
          <a:xfrm>
            <a:off x="812800" y="3007271"/>
            <a:ext cx="3342042"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5F7FA"/>
                </a:solidFill>
                <a:latin typeface="Rubik" pitchFamily="34" charset="0"/>
                <a:ea typeface="Rubik" pitchFamily="34" charset="-122"/>
                <a:cs typeface="Rubik" pitchFamily="34" charset="-120"/>
              </a:rPr>
              <a:t>13.42 ms</a:t>
            </a:r>
            <a:endParaRPr lang="en-US" sz="6000" dirty="0"/>
          </a:p>
        </p:txBody>
      </p:sp>
      <p:sp>
        <p:nvSpPr>
          <p:cNvPr id="7" name="Text 5"/>
          <p:cNvSpPr/>
          <p:nvPr/>
        </p:nvSpPr>
        <p:spPr>
          <a:xfrm>
            <a:off x="812800" y="4658271"/>
            <a:ext cx="334204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0E3"/>
                </a:solidFill>
                <a:latin typeface="IBM Plex Sans" pitchFamily="34" charset="0"/>
                <a:ea typeface="IBM Plex Sans" pitchFamily="34" charset="-122"/>
                <a:cs typeface="IBM Plex Sans" pitchFamily="34" charset="-120"/>
              </a:rPr>
              <a:t>Seq Scan: reads all 200,011 rows</a:t>
            </a:r>
            <a:endParaRPr lang="en-US" sz="1300" dirty="0"/>
          </a:p>
        </p:txBody>
      </p:sp>
      <p:pic>
        <p:nvPicPr>
          <p:cNvPr id="8" name="Image 0" descr="arrow-right">    </p:cNvPr>
          <p:cNvPicPr>
            <a:picLocks noChangeAspect="1"/>
          </p:cNvPicPr>
          <p:nvPr/>
        </p:nvPicPr>
        <p:blipFill>
          <a:blip r:embed="rId1"/>
          <a:srcRect l="-50" r="-50" t="0" b="0"/>
          <a:stretch/>
        </p:blipFill>
        <p:spPr>
          <a:xfrm>
            <a:off x="4413101" y="3600004"/>
            <a:ext cx="743694" cy="406400"/>
          </a:xfrm>
          <a:prstGeom prst="rect">
            <a:avLst/>
          </a:prstGeom>
        </p:spPr>
      </p:pic>
      <p:sp>
        <p:nvSpPr>
          <p:cNvPr id="9" name="Text 6"/>
          <p:cNvSpPr/>
          <p:nvPr/>
        </p:nvSpPr>
        <p:spPr>
          <a:xfrm>
            <a:off x="5512395" y="3013968"/>
            <a:ext cx="2931626"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BFD0E3"/>
                </a:solidFill>
                <a:latin typeface="IBM Plex Sans" pitchFamily="34" charset="0"/>
                <a:ea typeface="IBM Plex Sans" pitchFamily="34" charset="-122"/>
                <a:cs typeface="IBM Plex Sans" pitchFamily="34" charset="-120"/>
              </a:rPr>
              <a:t>WITH INDEX</a:t>
            </a:r>
            <a:endParaRPr lang="en-US" sz="1300" dirty="0"/>
          </a:p>
        </p:txBody>
      </p:sp>
      <p:sp>
        <p:nvSpPr>
          <p:cNvPr id="10" name="Text 7"/>
          <p:cNvSpPr/>
          <p:nvPr/>
        </p:nvSpPr>
        <p:spPr>
          <a:xfrm>
            <a:off x="5512395" y="3295898"/>
            <a:ext cx="3415486"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E8B04A"/>
                </a:solidFill>
                <a:latin typeface="Rubik" pitchFamily="34" charset="0"/>
                <a:ea typeface="Rubik" pitchFamily="34" charset="-122"/>
                <a:cs typeface="Rubik" pitchFamily="34" charset="-120"/>
              </a:rPr>
              <a:t>1.05 ms</a:t>
            </a:r>
            <a:endParaRPr lang="en-US" sz="6000" dirty="0"/>
          </a:p>
        </p:txBody>
      </p:sp>
      <p:sp>
        <p:nvSpPr>
          <p:cNvPr id="11" name="Text 8"/>
          <p:cNvSpPr/>
          <p:nvPr/>
        </p:nvSpPr>
        <p:spPr>
          <a:xfrm>
            <a:off x="5512395" y="4146798"/>
            <a:ext cx="293162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0E3"/>
                </a:solidFill>
                <a:latin typeface="IBM Plex Sans" pitchFamily="34" charset="0"/>
                <a:ea typeface="IBM Plex Sans" pitchFamily="34" charset="-122"/>
                <a:cs typeface="IBM Plex Sans" pitchFamily="34" charset="-120"/>
              </a:rPr>
              <a:t>Bitmap Index Scan: reads 835 matches</a:t>
            </a:r>
            <a:endParaRPr lang="en-US" sz="1300" dirty="0"/>
          </a:p>
        </p:txBody>
      </p:sp>
      <p:sp>
        <p:nvSpPr>
          <p:cNvPr id="12" name="Text 9"/>
          <p:cNvSpPr/>
          <p:nvPr/>
        </p:nvSpPr>
        <p:spPr>
          <a:xfrm>
            <a:off x="9069834" y="3427313"/>
            <a:ext cx="2309366" cy="751830"/>
          </a:xfrm>
          <a:prstGeom prst="roundRect">
            <a:avLst>
              <a:gd name="adj" fmla="val 13514"/>
            </a:avLst>
          </a:prstGeom>
          <a:solidFill>
            <a:srgbClr val="E8B04A"/>
          </a:solidFill>
          <a:ln/>
        </p:spPr>
        <p:txBody>
          <a:bodyPr wrap="none" lIns="173442" tIns="97242" rIns="116353" bIns="71842" rtlCol="0" anchor="t">
            <a:normAutofit/>
          </a:bodyPr>
          <a:lstStyle/>
          <a:p>
            <a:pPr algn="l" indent="0" marL="0">
              <a:lnSpc>
                <a:spcPts val="3920"/>
              </a:lnSpc>
              <a:buNone/>
            </a:pPr>
            <a:r>
              <a:rPr lang="en-US" sz="2800" b="1" dirty="0">
                <a:solidFill>
                  <a:srgbClr val="14233A"/>
                </a:solidFill>
                <a:latin typeface="Rubik" pitchFamily="34" charset="0"/>
                <a:ea typeface="Rubik" pitchFamily="34" charset="-122"/>
                <a:cs typeface="Rubik" pitchFamily="34" charset="-120"/>
              </a:rPr>
              <a:t>~13× faster</a:t>
            </a:r>
            <a:endParaRPr lang="en-US" sz="2800" dirty="0"/>
          </a:p>
        </p:txBody>
      </p:sp>
      <p:sp>
        <p:nvSpPr>
          <p:cNvPr id="13" name="Text 10"/>
          <p:cNvSpPr/>
          <p:nvPr/>
        </p:nvSpPr>
        <p:spPr>
          <a:xfrm>
            <a:off x="812800" y="5185916"/>
            <a:ext cx="981075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0E3"/>
                </a:solidFill>
                <a:latin typeface="IBM Plex Sans" pitchFamily="34" charset="0"/>
                <a:ea typeface="IBM Plex Sans" pitchFamily="34" charset="-122"/>
                <a:cs typeface="IBM Plex Sans" pitchFamily="34" charset="-120"/>
              </a:rPr>
              <a:t>Tested on 200,000 synthetic restaurants inside a transaction, then rolled back. Column order matters: the index also speeds up cuisine-only searches (leftmost prefix).</a:t>
            </a:r>
            <a:endParaRPr lang="en-US" sz="1300" dirty="0"/>
          </a:p>
        </p:txBody>
      </p:sp>
      <p:sp>
        <p:nvSpPr>
          <p:cNvPr id="14" name="Text 11"/>
          <p:cNvSpPr/>
          <p:nvPr/>
        </p:nvSpPr>
        <p:spPr>
          <a:xfrm>
            <a:off x="812800" y="6235700"/>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AA6BC"/>
                </a:solidFill>
                <a:latin typeface="IBM Plex Sans" pitchFamily="34" charset="0"/>
                <a:ea typeface="IBM Plex Sans" pitchFamily="34" charset="-122"/>
                <a:cs typeface="IBM Plex Sans" pitchFamily="34" charset="-120"/>
              </a:rPr>
              <a:t>QuickBite · Case Study 83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233F"/>
        </a:solidFill>
      </p:bgPr>
    </p:bg>
    <p:spTree>
      <p:nvGrpSpPr>
        <p:cNvPr id="1" name=""/>
        <p:cNvGrpSpPr/>
        <p:nvPr/>
      </p:nvGrpSpPr>
      <p:grpSpPr>
        <a:xfrm>
          <a:off x="0" y="0"/>
          <a:ext cx="0" cy="0"/>
          <a:chOff x="0" y="0"/>
          <a:chExt cx="0" cy="0"/>
        </a:xfrm>
      </p:grpSpPr>
      <p:sp>
        <p:nvSpPr>
          <p:cNvPr id="2" name="Text 0"/>
          <p:cNvSpPr/>
          <p:nvPr/>
        </p:nvSpPr>
        <p:spPr>
          <a:xfrm>
            <a:off x="812800" y="812800"/>
            <a:ext cx="10883392" cy="223490"/>
          </a:xfrm>
          <a:prstGeom prst="rect">
            <a:avLst/>
          </a:prstGeom>
          <a:noFill/>
          <a:ln/>
        </p:spPr>
        <p:txBody>
          <a:bodyPr wrap="square" lIns="0" tIns="0" rIns="0" bIns="0" rtlCol="0" anchor="t">
            <a:normAutofit/>
          </a:bodyPr>
          <a:lstStyle/>
          <a:p>
            <a:pPr algn="l" indent="0" marL="0">
              <a:lnSpc>
                <a:spcPts val="1560"/>
              </a:lnSpc>
              <a:buNone/>
            </a:pPr>
            <a:r>
              <a:rPr lang="en-US" sz="1200" b="1" spc="150" kern="0" dirty="0">
                <a:solidFill>
                  <a:srgbClr val="F2A266"/>
                </a:solidFill>
                <a:latin typeface="IBM Plex Sans" pitchFamily="34" charset="0"/>
                <a:ea typeface="IBM Plex Sans" pitchFamily="34" charset="-122"/>
                <a:cs typeface="IBM Plex Sans" pitchFamily="34" charset="-120"/>
              </a:rPr>
              <a:t>CONCLUSION</a:t>
            </a:r>
            <a:endParaRPr lang="en-US" sz="1200" dirty="0"/>
          </a:p>
        </p:txBody>
      </p:sp>
      <p:sp>
        <p:nvSpPr>
          <p:cNvPr id="3" name="Text 1"/>
          <p:cNvSpPr/>
          <p:nvPr>
            <p:ph type="title"/>
          </p:nvPr>
        </p:nvSpPr>
        <p:spPr>
          <a:xfrm>
            <a:off x="812800" y="12827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4EF"/>
                </a:solidFill>
                <a:latin typeface="Rubik" pitchFamily="34" charset="0"/>
                <a:ea typeface="Rubik" pitchFamily="34" charset="-122"/>
                <a:cs typeface="Rubik" pitchFamily="34" charset="-120"/>
              </a:rPr>
              <a:t>All four outcomes met and verified</a:t>
            </a:r>
            <a:endParaRPr lang="en-US" sz="3200" dirty="0"/>
          </a:p>
        </p:txBody>
      </p:sp>
      <p:sp>
        <p:nvSpPr>
          <p:cNvPr id="4" name="Text 2"/>
          <p:cNvSpPr/>
          <p:nvPr/>
        </p:nvSpPr>
        <p:spPr>
          <a:xfrm>
            <a:off x="812800" y="2000250"/>
            <a:ext cx="538937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A266"/>
                </a:solidFill>
                <a:latin typeface="Rubik" pitchFamily="34" charset="0"/>
                <a:ea typeface="Rubik" pitchFamily="34" charset="-122"/>
                <a:cs typeface="Rubik" pitchFamily="34" charset="-120"/>
              </a:rPr>
              <a:t>Delivered</a:t>
            </a:r>
            <a:endParaRPr lang="en-US" sz="2000" dirty="0"/>
          </a:p>
        </p:txBody>
      </p:sp>
      <p:sp>
        <p:nvSpPr>
          <p:cNvPr id="5" name="Text 3"/>
          <p:cNvSpPr/>
          <p:nvPr/>
        </p:nvSpPr>
        <p:spPr>
          <a:xfrm>
            <a:off x="927608" y="2406650"/>
            <a:ext cx="5258689" cy="116324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7 tables in BCNF, with a full ER diagram</a:t>
            </a:r>
            <a:endParaRPr lang="en-US" sz="1600" dirty="0"/>
          </a:p>
          <a:p>
            <a:pPr algn="l" marL="196342" indent="-196342">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Most popular dish and revenue per restaurant</a:t>
            </a:r>
            <a:endParaRPr lang="en-US" sz="1600" dirty="0"/>
          </a:p>
          <a:p>
            <a:pPr algn="l" marL="196342" indent="-196342">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Index: ~13× faster at 200,000 rows</a:t>
            </a:r>
            <a:endParaRPr lang="en-US" sz="1600" dirty="0"/>
          </a:p>
          <a:p>
            <a:pPr algn="l" marL="196342" indent="-196342">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9 / 9 invalid writes rejected</a:t>
            </a:r>
            <a:endParaRPr lang="en-US" sz="1600" dirty="0"/>
          </a:p>
        </p:txBody>
      </p:sp>
      <p:sp>
        <p:nvSpPr>
          <p:cNvPr id="6" name="Text 4"/>
          <p:cNvSpPr/>
          <p:nvPr/>
        </p:nvSpPr>
        <p:spPr>
          <a:xfrm>
            <a:off x="6299200" y="2000250"/>
            <a:ext cx="538937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A266"/>
                </a:solidFill>
                <a:latin typeface="Rubik" pitchFamily="34" charset="0"/>
                <a:ea typeface="Rubik" pitchFamily="34" charset="-122"/>
                <a:cs typeface="Rubik" pitchFamily="34" charset="-120"/>
              </a:rPr>
              <a:t>Next steps</a:t>
            </a:r>
            <a:endParaRPr lang="en-US" sz="2000" dirty="0"/>
          </a:p>
        </p:txBody>
      </p:sp>
      <p:sp>
        <p:nvSpPr>
          <p:cNvPr id="7" name="Text 5"/>
          <p:cNvSpPr/>
          <p:nvPr/>
        </p:nvSpPr>
        <p:spPr>
          <a:xfrm>
            <a:off x="6414008" y="2406650"/>
            <a:ext cx="5108258" cy="116324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Partition orders by month</a:t>
            </a:r>
            <a:endParaRPr lang="en-US" sz="1600" dirty="0"/>
          </a:p>
          <a:p>
            <a:pPr algn="l" marL="196342" indent="-196342">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Materialized view for revenue reports</a:t>
            </a:r>
            <a:endParaRPr lang="en-US" sz="1600" dirty="0"/>
          </a:p>
          <a:p>
            <a:pPr algn="l" marL="196342" indent="-196342">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Lookup tables for cuisine and area</a:t>
            </a:r>
            <a:endParaRPr lang="en-US" sz="1600" dirty="0"/>
          </a:p>
          <a:p>
            <a:pPr algn="l" marL="196342" indent="-196342">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Distance-based search with PostGIS</a:t>
            </a:r>
            <a:endParaRPr lang="en-US" sz="1600" dirty="0"/>
          </a:p>
        </p:txBody>
      </p:sp>
      <p:sp>
        <p:nvSpPr>
          <p:cNvPr id="8" name="Text 6"/>
          <p:cNvSpPr/>
          <p:nvPr/>
        </p:nvSpPr>
        <p:spPr>
          <a:xfrm>
            <a:off x="812800" y="37973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6F4EF"/>
                </a:solidFill>
                <a:latin typeface="Rubik" pitchFamily="34" charset="0"/>
                <a:ea typeface="Rubik" pitchFamily="34" charset="-122"/>
                <a:cs typeface="Rubik" pitchFamily="34" charset="-120"/>
              </a:rPr>
              <a:t>Thank you – questions?</a:t>
            </a:r>
            <a:endParaRPr lang="en-US" sz="2000" dirty="0"/>
          </a:p>
        </p:txBody>
      </p:sp>
      <p:sp>
        <p:nvSpPr>
          <p:cNvPr id="9" name="Text 7"/>
          <p:cNvSpPr/>
          <p:nvPr/>
        </p:nvSpPr>
        <p:spPr>
          <a:xfrm>
            <a:off x="812800" y="6235700"/>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AA6BC"/>
                </a:solidFill>
                <a:latin typeface="IBM Plex Sans" pitchFamily="34" charset="0"/>
                <a:ea typeface="IBM Plex Sans" pitchFamily="34" charset="-122"/>
                <a:cs typeface="IBM Plex Sans" pitchFamily="34" charset="-120"/>
              </a:rPr>
              <a:t>QuickBite · Case Study 83 · 07</a:t>
            </a:r>
            <a:endParaRPr lang="en-US" sz="1200" dirty="0"/>
          </a:p>
        </p:txBody>
      </p:sp>
    </p:spTree>
  </p:cSld>
  <p:clrMapOvr>
    <a:masterClrMapping/>
  </p:clrMapOvr>
</p:sld>
</file>

<file path=ppt/theme/theme1.xml><?xml version="1.0" encoding="utf-8"?>
<a:theme xmlns:a="http://schemas.openxmlformats.org/drawingml/2006/main" name="QuickBite DBMS Presentation">
  <a:themeElements>
    <a:clrScheme name="QuickBite DBMS Presentation">
      <a:dk1>
        <a:srgbClr val="14233A"/>
      </a:dk1>
      <a:lt1>
        <a:srgbClr val="F5F7FA"/>
      </a:lt1>
      <a:dk2>
        <a:srgbClr val="4C586A"/>
      </a:dk2>
      <a:lt2>
        <a:srgbClr val="DFE2E7"/>
      </a:lt2>
      <a:accent1>
        <a:srgbClr val="9A6212"/>
      </a:accent1>
      <a:accent2>
        <a:srgbClr val="2F5D8C"/>
      </a:accent2>
      <a:accent3>
        <a:srgbClr val="F2A266"/>
      </a:accent3>
      <a:accent4>
        <a:srgbClr val="E8B04A"/>
      </a:accent4>
      <a:accent5>
        <a:srgbClr val="3D4A5C"/>
      </a:accent5>
      <a:accent6>
        <a:srgbClr val="BFD0E3"/>
      </a:accent6>
      <a:hlink>
        <a:srgbClr val="0563C1"/>
      </a:hlink>
      <a:folHlink>
        <a:srgbClr val="954F72"/>
      </a:folHlink>
    </a:clrScheme>
    <a:fontScheme name="QuickBite DBMS Presentation">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QuickBite DBMS Presentation</dc:title>
  <dc:subject/>
  <dc:creator/>
  <cp:lastModifiedBy/>
  <cp:revision>1</cp:revision>
  <dcterms:created xsi:type="dcterms:W3CDTF">2026-10-07T05:17:00Z</dcterms:created>
  <dcterms:modified xsi:type="dcterms:W3CDTF">2026-10-07T05:17:00Z</dcterms:modified>
</cp:coreProperties>
</file>